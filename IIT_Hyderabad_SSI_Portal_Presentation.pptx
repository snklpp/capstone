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8016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IIT Hyderabad — SSI University Credential Portal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DEFB"/>
                </a:solidFill>
                <a:latin typeface="Calibri"/>
              </a:defRPr>
            </a:pPr>
            <a:r>
              <a:t>Self-Sovereign Identity with Decentralized Identifiers (DIDs)</a:t>
            </a:r>
            <a:br/>
            <a:r>
              <a:t>and Verifiable Credentials (VCs)</a:t>
            </a:r>
            <a:br/>
            <a:br/>
            <a:r>
              <a:t>Software Requirements Specification &amp; 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0CAF9"/>
                </a:solidFill>
                <a:latin typeface="Calibri"/>
              </a:defRPr>
            </a:pPr>
            <a:r>
              <a:t>Capstone Project  •  FastAPI + W3C Standards + OID4VCI/VP  • 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1.  System Overview &amp; Problem Statement</a:t>
            </a:r>
          </a:p>
          <a:p>
            <a:pPr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2.  Stakeholders &amp; User Roles</a:t>
            </a:r>
          </a:p>
          <a:p>
            <a:pPr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3.  System Architecture (Block Diagram)</a:t>
            </a:r>
          </a:p>
          <a:p>
            <a:pPr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4.  Functional Requirements</a:t>
            </a:r>
          </a:p>
          <a:p>
            <a:pPr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5.  Non-Functional Requirements</a:t>
            </a:r>
          </a:p>
          <a:p>
            <a:pPr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6.  Data Requirements &amp; ER Model</a:t>
            </a:r>
          </a:p>
          <a:p>
            <a:pPr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7.  External Interfaces</a:t>
            </a:r>
          </a:p>
          <a:p>
            <a:pPr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8.  Credential Issuance Flow (OID4VCI)</a:t>
            </a:r>
          </a:p>
          <a:p>
            <a:pPr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9.  Verification Flow (OID4VP)</a:t>
            </a:r>
          </a:p>
          <a:p>
            <a:pPr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10. Constraints &amp; Assumptions</a:t>
            </a:r>
          </a:p>
          <a:p>
            <a:pPr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11. Acceptance Criteria &amp; Traceability</a:t>
            </a:r>
          </a:p>
          <a:p>
            <a:pPr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12. Technology Stack</a:t>
            </a:r>
          </a:p>
          <a:p>
            <a:pPr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13. UI Design (Screenshots)</a:t>
            </a:r>
          </a:p>
          <a:p>
            <a:pPr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14. Reference Standards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1. System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0CAF9"/>
                </a:solidFill>
                <a:latin typeface="Calibri"/>
              </a:defRPr>
            </a:pPr>
            <a:r>
              <a:t>Problem Statement &amp; Objectives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System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914400"/>
            <a:ext cx="4023360" cy="1828800"/>
          </a:xfrm>
          <a:prstGeom prst="roundRect">
            <a:avLst/>
          </a:prstGeom>
          <a:solidFill>
            <a:srgbClr val="FFEBEE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300" b="1">
                <a:solidFill>
                  <a:srgbClr val="C62828"/>
                </a:solidFill>
                <a:latin typeface="Calibri"/>
              </a:defRPr>
            </a:pPr>
            <a:r>
              <a:t>Problem Statement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Traditional university credentials are paper-based,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easy to forge, and hard to verify instantly.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Employers and third parties have no standard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machine-readable way to confirm authenticity.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914400"/>
            <a:ext cx="4023360" cy="18288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300" b="1">
                <a:solidFill>
                  <a:srgbClr val="1B5E20"/>
                </a:solidFill>
                <a:latin typeface="Calibri"/>
              </a:defRPr>
            </a:pPr>
            <a:r>
              <a:t>Solution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A Self-Sovereign Identity (SSI) portal where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IIT Hyderabad issues W3C Verifiable Credentials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to student wallets (Altme). Verifiers can request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cryptographic proofs without contacting the issuer.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3017520"/>
            <a:ext cx="8412480" cy="173736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300" b="1">
                <a:solidFill>
                  <a:srgbClr val="1A237E"/>
                </a:solidFill>
                <a:latin typeface="Calibri"/>
              </a:defRPr>
            </a:pPr>
            <a:r>
              <a:t>Key Objectives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✓  Issue tamper-proof digital credentials (Degree, Internship, Skill Badge) via OID4VCI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✓  Enable students to store credentials in a mobile wallet (Altme) — full data sovereignty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✓  Allow any verifier to request &amp; verify presentations (OID4VP) — no issuer in the loop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✓  Implement W3C DID:web identifiers with key rotation and key history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2. Stakeholders &amp; User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0CAF9"/>
                </a:solidFill>
                <a:latin typeface="Calibri"/>
              </a:defRPr>
            </a:pPr>
            <a:r>
              <a:t>Actors, Responsibilities, and Interactions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Stakeholders &amp; User Roles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05840"/>
          <a:ext cx="8412479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9497"/>
                <a:gridCol w="1682496"/>
                <a:gridCol w="3785616"/>
                <a:gridCol w="1934870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Actor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Responsibilities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Access Level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IIT Hyderabad Students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Register, create DID, receive VCs, present VPs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Own credentials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Admin (Issuer)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University Administration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View students, issue credentials (Degree/Internship/Skill)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Credential issuance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Verifier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Employers / Third Parties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Initiate OID4VP requests, verify presentations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Read-only verification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Wallet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Altme Mobile Wallet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Scan OID4VCI offers, store VCs, respond to OID4VP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Student's device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65760" y="3017520"/>
            <a:ext cx="8412480" cy="1645920"/>
          </a:xfrm>
          <a:prstGeom prst="roundRect">
            <a:avLst/>
          </a:prstGeom>
          <a:solidFill>
            <a:srgbClr val="FDF1E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300" b="1">
                <a:solidFill>
                  <a:srgbClr val="E65100"/>
                </a:solidFill>
                <a:latin typeface="Calibri"/>
              </a:defRPr>
            </a:pPr>
            <a:r>
              <a:t>Trust Triangle (SSI Model)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Issuer (Admin)  ——issues VC——▶  Holder (Student Wallet)  ◀——verifies VP——  Verifier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Issuer signs credentials with its ES256 private key → Holder stores JWT in wallet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Verifier never contacts Issuer directly — resolves DID Document to get public key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Holder controls what to disclose — presents Verifiable Presentation containing VC(s)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3.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0CAF9"/>
                </a:solidFill>
                <a:latin typeface="Calibri"/>
              </a:defRPr>
            </a:pPr>
            <a:r>
              <a:t>Block Diagram &amp; Component Overview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System Architecture — Block Diagram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17520" y="914400"/>
            <a:ext cx="3108960" cy="502920"/>
          </a:xfrm>
          <a:prstGeom prst="roundRect">
            <a:avLst/>
          </a:prstGeom>
          <a:solidFill>
            <a:srgbClr val="0D47A1"/>
          </a:solidFill>
          <a:ln w="1270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SPA Frontend (HTML / JS / CSS)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828800"/>
            <a:ext cx="1554480" cy="502920"/>
          </a:xfrm>
          <a:prstGeom prst="roundRect">
            <a:avLst/>
          </a:prstGeom>
          <a:solidFill>
            <a:srgbClr val="388E3C"/>
          </a:solidFill>
          <a:ln w="1270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Auth Router</a:t>
            </a:r>
            <a:br/>
            <a:r>
              <a:t>/auth/*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1828800"/>
            <a:ext cx="1554480" cy="502920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Student Router</a:t>
            </a:r>
            <a:br/>
            <a:r>
              <a:t>/students/*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9039" y="1828800"/>
            <a:ext cx="1554480" cy="502920"/>
          </a:xfrm>
          <a:prstGeom prst="roundRect">
            <a:avLst/>
          </a:prstGeom>
          <a:solidFill>
            <a:srgbClr val="6A1B9A"/>
          </a:solidFill>
          <a:ln w="1270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Admin Router</a:t>
            </a:r>
            <a:br/>
            <a:r>
              <a:t>/admin/*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828800"/>
            <a:ext cx="1554480" cy="502920"/>
          </a:xfrm>
          <a:prstGeom prst="roundRect">
            <a:avLst/>
          </a:prstGeom>
          <a:solidFill>
            <a:srgbClr val="E65100"/>
          </a:solidFill>
          <a:ln w="1270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Verify Router</a:t>
            </a:r>
            <a:br/>
            <a:r>
              <a:t>/verify/*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1828800"/>
            <a:ext cx="1554480" cy="502920"/>
          </a:xfrm>
          <a:prstGeom prst="roundRect">
            <a:avLst/>
          </a:prstGeom>
          <a:solidFill>
            <a:srgbClr val="00695C"/>
          </a:solidFill>
          <a:ln w="1270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DID Router</a:t>
            </a:r>
            <a:br/>
            <a:r>
              <a:t>/.well-known/*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146304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333333"/>
                </a:solidFill>
                <a:latin typeface="Calibri"/>
              </a:defRPr>
            </a:pPr>
            <a:r>
              <a:t>▼  REST API  (FastAPI)  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2834640"/>
            <a:ext cx="1828800" cy="502920"/>
          </a:xfrm>
          <a:prstGeom prst="roundRect">
            <a:avLst/>
          </a:prstGeom>
          <a:solidFill>
            <a:srgbClr val="4E342E"/>
          </a:solidFill>
          <a:ln w="1270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Crypto Module</a:t>
            </a:r>
            <a:br/>
            <a:r>
              <a:t>ES256 / JWK / JWT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2834640"/>
            <a:ext cx="1828800" cy="502920"/>
          </a:xfrm>
          <a:prstGeom prst="roundRect">
            <a:avLst/>
          </a:prstGeom>
          <a:solidFill>
            <a:srgbClr val="00578A"/>
          </a:solidFill>
          <a:ln w="1270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DID Resolver</a:t>
            </a:r>
            <a:br/>
            <a:r>
              <a:t>did:web / did:jwk / did:key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834640"/>
            <a:ext cx="1828800" cy="502920"/>
          </a:xfrm>
          <a:prstGeom prst="roundRect">
            <a:avLst/>
          </a:prstGeom>
          <a:solidFill>
            <a:srgbClr val="544F4D"/>
          </a:solidFill>
          <a:ln w="1270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SQLite Database</a:t>
            </a:r>
            <a:br/>
            <a:r>
              <a:t>ORM: SQLAlchemy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834640"/>
            <a:ext cx="2468880" cy="502920"/>
          </a:xfrm>
          <a:prstGeom prst="roundRect">
            <a:avLst/>
          </a:prstGeom>
          <a:solidFill>
            <a:srgbClr val="F57C00"/>
          </a:solidFill>
          <a:ln w="1270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Cloudflare Tunnel</a:t>
            </a:r>
            <a:br/>
            <a:r>
              <a:t>(Public HTTPS Endpoint)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3840480"/>
            <a:ext cx="2103120" cy="50292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000" b="1">
                <a:solidFill>
                  <a:srgbClr val="0D47A1"/>
                </a:solidFill>
                <a:latin typeface="Calibri"/>
              </a:defRPr>
            </a:pPr>
            <a:r>
              <a:t>🎓  Student Browser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51760" y="3840480"/>
            <a:ext cx="1828800" cy="50292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000" b="1">
                <a:solidFill>
                  <a:srgbClr val="1B5E20"/>
                </a:solidFill>
                <a:latin typeface="Calibri"/>
              </a:defRPr>
            </a:pPr>
            <a:r>
              <a:t>📱  Altme Wallet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3840480"/>
            <a:ext cx="2103120" cy="502920"/>
          </a:xfrm>
          <a:prstGeom prst="roundRect">
            <a:avLst/>
          </a:prstGeom>
          <a:solidFill>
            <a:srgbClr val="FDF1E0"/>
          </a:solidFill>
          <a:ln w="1270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000" b="1">
                <a:solidFill>
                  <a:srgbClr val="E65100"/>
                </a:solidFill>
                <a:latin typeface="Calibri"/>
              </a:defRPr>
            </a:pPr>
            <a:r>
              <a:t>🏢  Verifier Dashboard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3840480"/>
            <a:ext cx="1645920" cy="50292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000" b="1">
                <a:solidFill>
                  <a:srgbClr val="4A148C"/>
                </a:solidFill>
                <a:latin typeface="Calibri"/>
              </a:defRPr>
            </a:pPr>
            <a:r>
              <a:t>🔑  Issuer (Admin)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423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333333"/>
                </a:solidFill>
                <a:latin typeface="Calibri"/>
              </a:defRPr>
            </a:pPr>
            <a:r>
              <a:t>▼  Internal Services  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4. Functional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0CAF9"/>
                </a:solidFill>
                <a:latin typeface="Calibri"/>
              </a:defRPr>
            </a:pPr>
            <a:r>
              <a:t>Core features by module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Functional Requirements — Authentication &amp; Student Module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914400"/>
          <a:ext cx="8595359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7628"/>
                <a:gridCol w="4039819"/>
                <a:gridCol w="2578608"/>
                <a:gridCol w="1289304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Requirement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Endpoint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FR-01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Student registration with roll number, name, password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/auth/register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POST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FR-02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Login with JWT token issuance (HS256, 60 min expiry)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/auth/login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FR-03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OID4VCI token exchange (pre-authorized code → access token)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/auth/token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POST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FR-04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Role-based access control (student / admin / verifier)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Middleware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2743200"/>
          <a:ext cx="8595359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7628"/>
                <a:gridCol w="4039819"/>
                <a:gridCol w="2578608"/>
                <a:gridCol w="1289304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Requirement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Endpoint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FR-05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Create DID (did:web) with EC P-256 public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/students/did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POST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FR-06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Key rotation with archival of previous keys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/students/did/rotate-key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FR-07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List all VCs + pending credential offers with QR codes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/students/vcs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GET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FR-08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View pending verification challenges targeting student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/students/challenges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Functional Requirements — Admin &amp; Verification Module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914400"/>
          <a:ext cx="8595359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7628"/>
                <a:gridCol w="4039819"/>
                <a:gridCol w="2578608"/>
                <a:gridCol w="1289304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Requirement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Endpoint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FR-09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List all students with DID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/admin/students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GET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FR-10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Create a credential offer (pre-auth code + QR)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/admin/issue-vc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FR-11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OID4VCI credential endpoint — signs VC on wallet claim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/admin/issue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POST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FR-12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Serve OID4VCI issuer metadata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/.well-known/openid-credential-issuer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2743200"/>
          <a:ext cx="8595359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7628"/>
                <a:gridCol w="4039819"/>
                <a:gridCol w="2578608"/>
                <a:gridCol w="1289304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Requirement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Endpoint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FR-13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Initiate OID4VP verification session with QR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/verify/init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POST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FR-14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Serve signed OID4VP request object (JWT)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/api/verify/request/{id}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FR-15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Receive wallet VP via direct_post callback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/api/verify/callback/{id}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POST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FR-16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Poll verification session status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/verify/status/{id}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FR-17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List verification history for verifier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/verify/history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GET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5. Non-Functional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0CAF9"/>
                </a:solidFill>
                <a:latin typeface="Calibri"/>
              </a:defRPr>
            </a:pPr>
            <a:r>
              <a:t>Security, Performance, Usability, Maintainability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Non-Functional Requirements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4114800" cy="1645920"/>
          </a:xfrm>
          <a:prstGeom prst="roundRect">
            <a:avLst/>
          </a:prstGeom>
          <a:solidFill>
            <a:srgbClr val="FCE4EC"/>
          </a:solidFill>
          <a:ln w="19050">
            <a:solidFill>
              <a:srgbClr val="AD1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300" b="1">
                <a:solidFill>
                  <a:srgbClr val="AD1457"/>
                </a:solidFill>
                <a:latin typeface="Calibri"/>
              </a:defRPr>
            </a:pPr>
            <a:r>
              <a:t>🔒  Security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Bcrypt password hashing (passlib)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JWT bearer tokens (HS256) with expiry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ECDSA P-256 (ES256) for VC/VP signing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Role-based endpoint guards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CORS middleware for cross-origin 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914400"/>
            <a:ext cx="4114800" cy="1645920"/>
          </a:xfrm>
          <a:prstGeom prst="roundRect">
            <a:avLst/>
          </a:prstGeom>
          <a:solidFill>
            <a:srgbClr val="E0F7FA"/>
          </a:solidFill>
          <a:ln w="1905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300" b="1">
                <a:solidFill>
                  <a:srgbClr val="00695C"/>
                </a:solidFill>
                <a:latin typeface="Calibri"/>
              </a:defRPr>
            </a:pPr>
            <a:r>
              <a:t>⚡  Performance &amp; Scalability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SQLite for dev; pluggable to PostgreSQL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Stateless JWT auth (no server sessions)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Lightweight FastAPI (async capable)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Pre-authorized code flow avoids real-time signing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Credential offers stored for async wallet claim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834640"/>
            <a:ext cx="4114800" cy="164592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300" b="1">
                <a:solidFill>
                  <a:srgbClr val="1A237E"/>
                </a:solidFill>
                <a:latin typeface="Calibri"/>
              </a:defRPr>
            </a:pPr>
            <a:r>
              <a:t>🎨  Usability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Single-page app with focus-mode navigation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Hamburger menu with role-specific dashboards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QR codes for wallet scanning (OID4VCI + OID4VP)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Responsive design for desktop &amp; mobile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Real-time polling for verification status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2834640"/>
            <a:ext cx="4114800" cy="1645920"/>
          </a:xfrm>
          <a:prstGeom prst="roundRect">
            <a:avLst/>
          </a:prstGeom>
          <a:solidFill>
            <a:srgbClr val="F3E5F5"/>
          </a:solidFill>
          <a:ln w="1905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300" b="1">
                <a:solidFill>
                  <a:srgbClr val="4A148C"/>
                </a:solidFill>
                <a:latin typeface="Calibri"/>
              </a:defRPr>
            </a:pPr>
            <a:r>
              <a:t>🔧  Maintainability &amp; Portability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Modular router architecture (auth, student, admin, verify, DID)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Pydantic schemas for all request/response validation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SQLAlchemy ORM with declarative models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Persistent issuer key on disk (survives restarts)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Cloudflare tunnel for easy public exposure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6. Data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0CAF9"/>
                </a:solidFill>
                <a:latin typeface="Calibri"/>
              </a:defRPr>
            </a:pPr>
            <a:r>
              <a:t>Entity-Relationship Model &amp; Database Schema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Data Model — Entity Relationship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1645920" cy="347472"/>
          </a:xfrm>
          <a:prstGeom prst="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Users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61872"/>
            <a:ext cx="1645920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36576"/>
          <a:lstStyle/>
          <a:p>
            <a:pPr algn="ctr"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PK  id (UUID)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username (unique)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hashed_password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role (enum)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full_name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student_id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created_at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914400"/>
            <a:ext cx="1645920" cy="347472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DIDDocument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0" y="1261872"/>
            <a:ext cx="1645920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36576"/>
          <a:lstStyle/>
          <a:p>
            <a:pPr algn="ctr"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PK  id (UUID)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did_uri (unique)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FK  user_id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public_key_jwk (JSON)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did_document (JSON)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key_version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created_at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914400"/>
            <a:ext cx="1645920" cy="347472"/>
          </a:xfrm>
          <a:prstGeom prst="rect">
            <a:avLst/>
          </a:prstGeom>
          <a:solidFill>
            <a:srgbClr val="1B5E20"/>
          </a:solidFill>
          <a:ln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VerifiableCredential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1261872"/>
            <a:ext cx="1645920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36576"/>
          <a:lstStyle/>
          <a:p>
            <a:pPr algn="ctr"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PK  id (UUID)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vc_id (unique)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FK  did_id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vc_type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vc_jwt (TEXT)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issued_at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914400"/>
            <a:ext cx="1645920" cy="347472"/>
          </a:xfrm>
          <a:prstGeom prst="rect">
            <a:avLst/>
          </a:prstGeom>
          <a:solidFill>
            <a:srgbClr val="4A148C"/>
          </a:solidFill>
          <a:ln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CredentialOffer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261872"/>
            <a:ext cx="1645920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36576"/>
          <a:lstStyle/>
          <a:p>
            <a:pPr algn="ctr"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PK  id (UUID)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FK  user_id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vc_type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offer_details (JSON)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pre_authorized_code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status (enum)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created_at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926080"/>
            <a:ext cx="2194560" cy="347472"/>
          </a:xfrm>
          <a:prstGeom prst="rect">
            <a:avLst/>
          </a:prstGeom>
          <a:solidFill>
            <a:srgbClr val="E65100"/>
          </a:solidFill>
          <a:ln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VerificationSession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273552"/>
            <a:ext cx="2194560" cy="1298448"/>
          </a:xfrm>
          <a:prstGeom prst="rect">
            <a:avLst/>
          </a:prstGeom>
          <a:solidFill>
            <a:srgbClr val="FFFFFF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36576"/>
          <a:lstStyle/>
          <a:p>
            <a:pPr algn="ctr"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PK  id (UUID)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verification_id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FK  verifier_id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target_did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FK  holder_did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nonce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status (enum)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presentation_definition (JSON)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vc_jwt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vp_jwt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expires_at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2926080"/>
            <a:ext cx="1645920" cy="347472"/>
          </a:xfrm>
          <a:prstGeom prst="rect">
            <a:avLst/>
          </a:prstGeom>
          <a:solidFill>
            <a:srgbClr val="544F4D"/>
          </a:solidFill>
          <a:ln>
            <a:solidFill>
              <a:srgbClr val="544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KeyHistory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3273552"/>
            <a:ext cx="1645920" cy="841248"/>
          </a:xfrm>
          <a:prstGeom prst="rect">
            <a:avLst/>
          </a:prstGeom>
          <a:solidFill>
            <a:srgbClr val="FFFFFF"/>
          </a:solidFill>
          <a:ln w="19050">
            <a:solidFill>
              <a:srgbClr val="544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36576"/>
          <a:lstStyle/>
          <a:p>
            <a:pPr algn="ctr"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PK  id (UUID)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FK  did_id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public_key_jwk (JSON)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key_id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rotated_at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13716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333333"/>
                </a:solidFill>
                <a:latin typeface="Calibri"/>
              </a:defRPr>
            </a:pPr>
            <a:r>
              <a:t>1:1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13716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333333"/>
                </a:solidFill>
                <a:latin typeface="Calibri"/>
              </a:defRPr>
            </a:pPr>
            <a:r>
              <a:t>1:N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13716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333333"/>
                </a:solidFill>
                <a:latin typeface="Calibri"/>
              </a:defRPr>
            </a:pPr>
            <a:r>
              <a:t>1:N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29184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33333"/>
                </a:solidFill>
                <a:latin typeface="Calibri"/>
              </a:defRPr>
            </a:pPr>
            <a:r>
              <a:t>Relationships 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3017520"/>
            <a:ext cx="3749039" cy="146304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300" b="1">
                <a:solidFill>
                  <a:srgbClr val="1A237E"/>
                </a:solidFill>
                <a:latin typeface="Calibri"/>
              </a:defRPr>
            </a:pPr>
            <a:r>
              <a:t>Relationships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Users  ←1:1→  DIDDocument   (one DID per student)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DIDDocument  ←1:N→  VerifiableCredential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DIDDocument  ←1:N→  KeyHistory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Users  ←1:N→  CredentialOffer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Users  ←1:N→  VerificationSession  (as verifier)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DIDDocument  ←1:N→  VerificationSession  (as holder)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7. External Interfaces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0CAF9"/>
                </a:solidFill>
                <a:latin typeface="Calibri"/>
              </a:defRPr>
            </a:pPr>
            <a:r>
              <a:t>User Interface, Hardware, Software, Communication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External Interfaces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914400"/>
          <a:ext cx="8595358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7164"/>
                <a:gridCol w="1203350"/>
                <a:gridCol w="3696004"/>
                <a:gridCol w="2148840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Interface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Protocol / Format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Web Browser (SPA)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User 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Single-page app: Login, Student, Admin, Verifier dashboards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HTML/JS/CSS over HTTPS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Altme Wallet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Software Interface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Mobile wallet scans QR for credential offer &amp; verification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OID4VCI / OID4VP (deep links)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OID4VCI Metadata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Communication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/.well-known/openid-credential-issuer discovery endpoint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JSON over HTTPS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OID4VP Request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Communication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Signed JWT authorization request served to wallet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oauth-authz-req+jwt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DID Resolution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Software 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Resolve did:web, did:jwk, did:key to DID Documents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Internal resolver + HTTP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Cloudflare Tunnel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Communication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Exposes localhost:8000 as public HTTPS for wallets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cloudflared binary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SQLite 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Data 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Persistent storage for users, DIDs, VCs, sessions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SQLAlchemy ORM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8. Credential Issuance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0CAF9"/>
                </a:solidFill>
                <a:latin typeface="Calibri"/>
              </a:defRPr>
            </a:pPr>
            <a:r>
              <a:t>OID4VCI — Pre-Authorized Code Grant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OID4VCI Issuance — Sequence Diagram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1371600" cy="457200"/>
          </a:xfrm>
          <a:prstGeom prst="roundRect">
            <a:avLst/>
          </a:prstGeom>
          <a:solidFill>
            <a:srgbClr val="4A148C"/>
          </a:solidFill>
          <a:ln w="1270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Admin</a:t>
            </a:r>
            <a:br/>
            <a:r>
              <a:t>(Issuer)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5568" y="1371600"/>
            <a:ext cx="54864" cy="310896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468880" y="914400"/>
            <a:ext cx="1371600" cy="457200"/>
          </a:xfrm>
          <a:prstGeom prst="roundRect">
            <a:avLst/>
          </a:prstGeom>
          <a:solidFill>
            <a:srgbClr val="0D47A1"/>
          </a:solidFill>
          <a:ln w="1270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FastAPI</a:t>
            </a:r>
            <a:br/>
            <a:r>
              <a:t>Backend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3127248" y="1371600"/>
            <a:ext cx="54864" cy="310896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0" y="914400"/>
            <a:ext cx="1371600" cy="457200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Student</a:t>
            </a:r>
            <a:br/>
            <a:r>
              <a:t>Dashboard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5230368" y="1371600"/>
            <a:ext cx="54864" cy="310896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75120" y="914400"/>
            <a:ext cx="1371600" cy="457200"/>
          </a:xfrm>
          <a:prstGeom prst="roundRect">
            <a:avLst/>
          </a:prstGeom>
          <a:solidFill>
            <a:srgbClr val="1B5E20"/>
          </a:solidFill>
          <a:ln w="1270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Altme</a:t>
            </a:r>
            <a:br/>
            <a:r>
              <a:t>Wallet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33488" y="1371600"/>
            <a:ext cx="54864" cy="310896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150876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33333"/>
                </a:solidFill>
                <a:latin typeface="Calibri"/>
              </a:defRPr>
            </a:pPr>
            <a:r>
              <a:t>1. POST /admin/issue-vc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78308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33333"/>
                </a:solidFill>
                <a:latin typeface="Calibri"/>
              </a:defRPr>
            </a:pPr>
            <a:r>
              <a:t>2. Create CredentialOffer + pre-auth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205740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33333"/>
                </a:solidFill>
                <a:latin typeface="Calibri"/>
              </a:defRPr>
            </a:pPr>
            <a:r>
              <a:t>3. Return QR (openid-credential-offer://)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233172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33333"/>
                </a:solidFill>
                <a:latin typeface="Calibri"/>
              </a:defRPr>
            </a:pPr>
            <a:r>
              <a:t>4. Student scans QR → Wallet opens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2606040"/>
            <a:ext cx="4206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33333"/>
                </a:solidFill>
                <a:latin typeface="Calibri"/>
              </a:defRPr>
            </a:pPr>
            <a:r>
              <a:t>5. POST /auth/token (exchange code)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2880360"/>
            <a:ext cx="4206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33333"/>
                </a:solidFill>
                <a:latin typeface="Calibri"/>
              </a:defRPr>
            </a:pPr>
            <a:r>
              <a:t>6. Return access_token (JWT)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3154680"/>
            <a:ext cx="4206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33333"/>
                </a:solidFill>
                <a:latin typeface="Calibri"/>
              </a:defRPr>
            </a:pPr>
            <a:r>
              <a:t>7. POST /admin/issue (with proof JWT)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342900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33333"/>
                </a:solidFill>
                <a:latin typeface="Calibri"/>
              </a:defRPr>
            </a:pPr>
            <a:r>
              <a:t>8. Sign VC (ES256), update DID doc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3703320"/>
            <a:ext cx="4206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33333"/>
                </a:solidFill>
                <a:latin typeface="Calibri"/>
              </a:defRPr>
            </a:pPr>
            <a:r>
              <a:t>9. Return signed VC JWT → stored in wallet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Supported Credential Types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914400"/>
          <a:ext cx="8595359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1031443"/>
                <a:gridCol w="3867912"/>
                <a:gridCol w="1547164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Credential Type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Format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Claims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Display Color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UniversityDegreeCredential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jwt_vc_json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student_name, student_id, degree, branch, CGPA, graduation_year, honours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#1A237E (Navy)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InternshipCredential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jwt_vc_json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student_name, company, role, duration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#1b5e20 (Green)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SkillBadgeCredential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jwt_vc_json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student_name, skill_name, proficiency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#4a148c (Purple)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274320" y="2560320"/>
            <a:ext cx="8595360" cy="219456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300" b="1">
                <a:solidFill>
                  <a:srgbClr val="1A237E"/>
                </a:solidFill>
                <a:latin typeface="Calibri"/>
              </a:defRPr>
            </a:pPr>
            <a:r>
              <a:t>OID4VCI Protocol Details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Grant Type:  urn:ietf:params:oauth:grant-type:pre-authorized_code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Signing Algorithm:  ES256 (ECDSA P-256)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Key Binding:  Wallet proof JWT → extract public key → update student DID document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Discovery:  /.well-known/openid-credential-issuer (JSON metadata)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Token Endpoint:  /auth/token (exchanges pre-authorized code for access_token)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Credential Endpoint:  /admin/issue (signs &amp; returns VC JWT)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Wallet Compatibility:  Altme (tested), any OID4VCI-compliant wallet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9. Verification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0CAF9"/>
                </a:solidFill>
                <a:latin typeface="Calibri"/>
              </a:defRPr>
            </a:pPr>
            <a:r>
              <a:t>OID4VP — Verifiable Presentation Request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OID4VP Verification — Sequence Diagram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1371600" cy="457200"/>
          </a:xfrm>
          <a:prstGeom prst="roundRect">
            <a:avLst/>
          </a:prstGeom>
          <a:solidFill>
            <a:srgbClr val="E65100"/>
          </a:solidFill>
          <a:ln w="1270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Verifier</a:t>
            </a:r>
            <a:br/>
            <a:r>
              <a:t>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5568" y="1371600"/>
            <a:ext cx="54864" cy="310896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468880" y="914400"/>
            <a:ext cx="1371600" cy="457200"/>
          </a:xfrm>
          <a:prstGeom prst="roundRect">
            <a:avLst/>
          </a:prstGeom>
          <a:solidFill>
            <a:srgbClr val="0D47A1"/>
          </a:solidFill>
          <a:ln w="1270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FastAPI</a:t>
            </a:r>
            <a:br/>
            <a:r>
              <a:t>Backend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3127248" y="1371600"/>
            <a:ext cx="54864" cy="310896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0" y="914400"/>
            <a:ext cx="1371600" cy="457200"/>
          </a:xfrm>
          <a:prstGeom prst="roundRect">
            <a:avLst/>
          </a:prstGeom>
          <a:solidFill>
            <a:srgbClr val="1B5E20"/>
          </a:solidFill>
          <a:ln w="1270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Altme</a:t>
            </a:r>
            <a:br/>
            <a:r>
              <a:t>Wallet</a:t>
            </a:r>
          </a:p>
        </p:txBody>
      </p:sp>
      <p:sp>
        <p:nvSpPr>
          <p:cNvPr id="9" name="Rectangle 8"/>
          <p:cNvSpPr/>
          <p:nvPr/>
        </p:nvSpPr>
        <p:spPr>
          <a:xfrm>
            <a:off x="5230368" y="1371600"/>
            <a:ext cx="54864" cy="310896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75120" y="914400"/>
            <a:ext cx="1371600" cy="457200"/>
          </a:xfrm>
          <a:prstGeom prst="roundRect">
            <a:avLst/>
          </a:prstGeom>
          <a:solidFill>
            <a:srgbClr val="00695C"/>
          </a:solidFill>
          <a:ln w="1270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DID</a:t>
            </a:r>
            <a:br/>
            <a:r>
              <a:t>Resolver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33488" y="1371600"/>
            <a:ext cx="54864" cy="310896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150876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33333"/>
                </a:solidFill>
                <a:latin typeface="Calibri"/>
              </a:defRPr>
            </a:pPr>
            <a:r>
              <a:t>1. POST /verify/init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78308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33333"/>
                </a:solidFill>
                <a:latin typeface="Calibri"/>
              </a:defRPr>
            </a:pPr>
            <a:r>
              <a:t>2. Create session + nonce + PD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05740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33333"/>
                </a:solidFill>
                <a:latin typeface="Calibri"/>
              </a:defRPr>
            </a:pPr>
            <a:r>
              <a:t>3. Return QR (openid4vp://...)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33172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33333"/>
                </a:solidFill>
                <a:latin typeface="Calibri"/>
              </a:defRPr>
            </a:pPr>
            <a:r>
              <a:t>4. Wallet scans QR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260604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33333"/>
                </a:solidFill>
                <a:latin typeface="Calibri"/>
              </a:defRPr>
            </a:pPr>
            <a:r>
              <a:t>5. GET /api/verify/request/{id} (JWT)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88036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33333"/>
                </a:solidFill>
                <a:latin typeface="Calibri"/>
              </a:defRPr>
            </a:pPr>
            <a:r>
              <a:t>6. Select matching VC, build VP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315468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33333"/>
                </a:solidFill>
                <a:latin typeface="Calibri"/>
              </a:defRPr>
            </a:pPr>
            <a:r>
              <a:t>7. POST /api/verify/callback/{id} (vp_token)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3429000"/>
            <a:ext cx="4206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33333"/>
                </a:solidFill>
                <a:latin typeface="Calibri"/>
              </a:defRPr>
            </a:pPr>
            <a:r>
              <a:t>8. Resolve holder DID → get public key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370332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33333"/>
                </a:solidFill>
                <a:latin typeface="Calibri"/>
              </a:defRPr>
            </a:pPr>
            <a:r>
              <a:t>9. Verify VP sig, VC sig → VERIFIED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OID4VP Protocol Details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4114800" cy="182880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300" b="1">
                <a:solidFill>
                  <a:srgbClr val="1A237E"/>
                </a:solidFill>
                <a:latin typeface="Calibri"/>
              </a:defRPr>
            </a:pPr>
            <a:r>
              <a:t>Presentation Definition (DIF format)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format: jwt_vc_json + jwt_vp_json (alg: ES256)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input_descriptors: 'iith_credential'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constraints.fields.path: $.vc.type[*]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filter: UniversityDegreeCredential |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      InternshipCredential |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      SkillBadgeCredential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914400"/>
            <a:ext cx="4114800" cy="1828800"/>
          </a:xfrm>
          <a:prstGeom prst="roundRect">
            <a:avLst/>
          </a:prstGeom>
          <a:solidFill>
            <a:srgbClr val="FDF1E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300" b="1">
                <a:solidFill>
                  <a:srgbClr val="E65100"/>
                </a:solidFill>
                <a:latin typeface="Calibri"/>
              </a:defRPr>
            </a:pPr>
            <a:r>
              <a:t>Request Object (signed JWT)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client_id_scheme: redirect_uri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response_type: vp_token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response_mode: direct_post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response_uri: /api/verify/callback/{id}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Signed with verifier ES256 key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Header: typ=oauth-authz-req+jwt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3017520"/>
            <a:ext cx="4114800" cy="173736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300" b="1">
                <a:solidFill>
                  <a:srgbClr val="1B5E20"/>
                </a:solidFill>
                <a:latin typeface="Calibri"/>
              </a:defRPr>
            </a:pPr>
            <a:r>
              <a:t>Verification Steps (Backend)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1. Extract vp_token from wallet POST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2. Decode VP JWT → get holder DID from 'iss'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3. Resolve holder DID → obtain public key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4. Verify VP signature with holder key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5. Extract embedded VC → resolve issuer DID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6. Verify VC signature with issuer key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7. Check nonce match → mark VERIFIED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3017520"/>
            <a:ext cx="4114800" cy="1737360"/>
          </a:xfrm>
          <a:prstGeom prst="roundRect">
            <a:avLst/>
          </a:prstGeom>
          <a:solidFill>
            <a:srgbClr val="F3E5F5"/>
          </a:solidFill>
          <a:ln w="1905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300" b="1">
                <a:solidFill>
                  <a:srgbClr val="4A148C"/>
                </a:solidFill>
                <a:latin typeface="Calibri"/>
              </a:defRPr>
            </a:pPr>
            <a:r>
              <a:t>Supported DID Methods for Resolution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did:web — HTTP-based, our student/issuer DIDs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did:jwk — Self-describing, JWK in the DID itself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did:key — Compressed P-256 key (multicodec)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Wallet may use any method — resolver adapts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accordingly via app/resolver.py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10. Constraints &amp; Assumptions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0CAF9"/>
                </a:solidFill>
                <a:latin typeface="Calibri"/>
              </a:defRPr>
            </a:pPr>
            <a:r>
              <a:t>Design Constraints, Dependencies, and Limitations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Constraints &amp; Assumptions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4114800" cy="1828800"/>
          </a:xfrm>
          <a:prstGeom prst="roundRect">
            <a:avLst/>
          </a:prstGeom>
          <a:solidFill>
            <a:srgbClr val="FCE4EC"/>
          </a:solidFill>
          <a:ln w="19050">
            <a:solidFill>
              <a:srgbClr val="AD1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300" b="1">
                <a:solidFill>
                  <a:srgbClr val="AD1457"/>
                </a:solidFill>
                <a:latin typeface="Calibri"/>
              </a:defRPr>
            </a:pPr>
            <a:r>
              <a:t>Design Constraints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Must use W3C VC Data Model (jwt_vc_json)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Must support OID4VCI Draft 13+ protocol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Must support OID4VP with direct_post response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ES256 (P-256) mandatory for all signing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Single-server deployment (no microservices)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Python 3.10+ required (FastAPI + type hints)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914400"/>
            <a:ext cx="4114800" cy="1828800"/>
          </a:xfrm>
          <a:prstGeom prst="roundRect">
            <a:avLst/>
          </a:prstGeom>
          <a:solidFill>
            <a:srgbClr val="E0F7FA"/>
          </a:solidFill>
          <a:ln w="1905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300" b="1">
                <a:solidFill>
                  <a:srgbClr val="00695C"/>
                </a:solidFill>
                <a:latin typeface="Calibri"/>
              </a:defRPr>
            </a:pPr>
            <a:r>
              <a:t>Assumptions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Students have a smartphone with Altme wallet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Cloudflare tunnel provides stable HTTPS URL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Admin has pre-verified student identity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Wallet implements OID4VCI + OID4VP correctly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Browser supports modern JS (ES6+)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Development uses SQLite (prod: PostgreSQL)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3017520"/>
            <a:ext cx="8595360" cy="173736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300" b="1">
                <a:solidFill>
                  <a:srgbClr val="1A237E"/>
                </a:solidFill>
                <a:latin typeface="Calibri"/>
              </a:defRPr>
            </a:pPr>
            <a:r>
              <a:t>Dependencies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FastAPI 0.100+ (web framework)  •  SQLAlchemy 2.x (ORM)  •  python-jose (JWT)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cryptography (EC P-256 keys)  •  passlib + bcrypt (password hashing)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Altme Wallet v2.x+ (mobile credential wallet — iOS/Android)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Cloudflare Tunnel (cloudflared) for public HTTPS endpoint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W3C DID Core v1.0, W3C VC Data Model v1.1, OpenID4VCI Draft 13, OpenID4VP Draft 20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11. Acceptance Criteria &amp; Traceability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0CAF9"/>
                </a:solidFill>
                <a:latin typeface="Calibri"/>
              </a:defRPr>
            </a:pPr>
            <a:r>
              <a:t>Verification Requirements and Requirement Mapping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Acceptance Criteria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914400"/>
          <a:ext cx="8595359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9536"/>
                <a:gridCol w="4469587"/>
                <a:gridCol w="3266236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Criterion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Verification Method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Student can register and receive JWT token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E2E test: POST /auth/register → /auth/login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AC-02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Admin can issue credential offer with QR code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E2E test: POST /admin/issue-vc → QR generated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Wallet scans QR, exchanges code, receives signed VC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Manual test with Altme wallet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AC-04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VC JWT has valid ES256 signature from issuer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Unit test: sign + verify round-trip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Verifier initiates OID4VP, wallet responds with VP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Manual test with Altme wallet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AC-06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Backend verifies VP (holder sig + VC issuer sig)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E2E test: POST callback → VERIFIED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AC-07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DID resolution works for did:web, did:jwk, did:key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Unit test: resolve each method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AC-08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Key rotation archives old key, updates DID Document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E2E test: rotate-key endpoint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AC-09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UI displays correct role-based views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Manual test: login as each role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Requirements Traceability Matrix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914400"/>
          <a:ext cx="8595358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7628"/>
                <a:gridCol w="2406700"/>
                <a:gridCol w="2922422"/>
                <a:gridCol w="2578608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Req ID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Requirement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Module / File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/ Acceptance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FR-01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Student registration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auth_router.py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AC-01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FR-02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JWT login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auth_router.py, auth.py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AC-01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FR-05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Create DID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student_router.py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AC-07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FR-06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Key rotation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student_router.py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AC-08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FR-10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Credential offer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admin_router.py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AC-02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FR-11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VC signing (OID4VCI)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admin_router.py, crypto.py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AC-03, AC-04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FR-13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OID4VP init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verify_router.py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AC-05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FR-15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VP callback verify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verify_router.py, resolver.py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AC-06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FR-16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Poll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verify_router.py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AC-06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274320" y="3474720"/>
            <a:ext cx="8595360" cy="109728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300" b="1">
                <a:solidFill>
                  <a:srgbClr val="1A237E"/>
                </a:solidFill>
                <a:latin typeface="Calibri"/>
              </a:defRPr>
            </a:pPr>
            <a:r>
              <a:t>Traceability Note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All functional requirements map to specific router files and are covered by acceptance criteria.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Non-functional requirements (Security, Performance) are addressed by architecture decisions (bcrypt, JWT, ES256, async FastAPI).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12.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0CAF9"/>
                </a:solidFill>
                <a:latin typeface="Calibri"/>
              </a:defRPr>
            </a:pPr>
            <a:r>
              <a:t>Languages, Frameworks, Libraries, and Tools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914400"/>
          <a:ext cx="8595359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3266236"/>
                <a:gridCol w="3610051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Backend 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FastAPI (Python 3.10+)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Async web framework with auto-docs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ORM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SQLAlchemy 2.x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Database abstraction layer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SQLite (dev) / PostgreSQL (prod)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Persistent data storage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Authentication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python-jose (JWT) + passlib (bcrypt)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Token auth + password hashing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Cryptography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cryptography (P-256) + ES256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Key generation, VC/VP signing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Vanilla HTML/JS/CSS (SPA)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Single-page app, no framework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Wallet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Altme (iOS/Android)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OID4VCI + OID4VP compatible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Tunnel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Cloudflare Tunnel (cloudflared)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Public HTTPS for wallet access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Standards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W3C DID, W3C VC, OID4VCI, OID4VP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Interoperability protocols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274320" y="3657600"/>
            <a:ext cx="8595360" cy="100584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300" b="1">
                <a:solidFill>
                  <a:srgbClr val="1A237E"/>
                </a:solidFill>
                <a:latin typeface="Calibri"/>
              </a:defRPr>
            </a:pPr>
            <a:r>
              <a:t>Project Structure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app/  →  main.py, auth.py, crypto.py, database.py, models.py, schemas.py, resolver.py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app/routers/  →  auth_router.py, student_router.py, admin_router.py, verify_router.py, did_router.py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static/  →  index.html, app.js, styles.css   |   test/  →  test_new_flow.py, test_e2e.py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13. UI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0CAF9"/>
                </a:solidFill>
                <a:latin typeface="Calibri"/>
              </a:defRPr>
            </a:pPr>
            <a:r>
              <a:t>Role-Based Dashboards with Focus-Mode Navigation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UI Design — Login / Registration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3657600" cy="3474720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33333"/>
                </a:solidFill>
                <a:latin typeface="Calibri"/>
              </a:defRPr>
            </a:pPr>
            <a:r>
              <a:t>LOGIN SCREEN</a:t>
            </a:r>
          </a:p>
          <a:p>
            <a:pPr>
              <a:defRPr sz="700">
                <a:solidFill>
                  <a:srgbClr val="757575"/>
                </a:solidFill>
                <a:latin typeface="Calibri"/>
              </a:defRPr>
            </a:pPr>
            <a:r>
              <a:t>┌─────────────────────────┐</a:t>
            </a:r>
          </a:p>
          <a:p>
            <a:pPr>
              <a:defRPr sz="700">
                <a:solidFill>
                  <a:srgbClr val="757575"/>
                </a:solidFill>
                <a:latin typeface="Calibri"/>
              </a:defRPr>
            </a:pPr>
            <a:r>
              <a:t>│  IIT Hyderabad Portal   │</a:t>
            </a:r>
          </a:p>
          <a:p>
            <a:pPr>
              <a:defRPr sz="700">
                <a:solidFill>
                  <a:srgbClr val="757575"/>
                </a:solidFill>
                <a:latin typeface="Calibri"/>
              </a:defRPr>
            </a:pPr>
            <a:r>
              <a:t>│  ═══════════════════    │</a:t>
            </a:r>
          </a:p>
          <a:p>
            <a:pPr>
              <a:defRPr sz="700">
                <a:solidFill>
                  <a:srgbClr val="757575"/>
                </a:solidFill>
                <a:latin typeface="Calibri"/>
              </a:defRPr>
            </a:pPr>
            <a:r>
              <a:t>│  [ Roll Number      ]   │</a:t>
            </a:r>
          </a:p>
          <a:p>
            <a:pPr>
              <a:defRPr sz="700">
                <a:solidFill>
                  <a:srgbClr val="757575"/>
                </a:solidFill>
                <a:latin typeface="Calibri"/>
              </a:defRPr>
            </a:pPr>
            <a:r>
              <a:t>│  [ ●●●●●●●●        ]   │</a:t>
            </a:r>
          </a:p>
          <a:p>
            <a:pPr>
              <a:defRPr sz="700">
                <a:solidFill>
                  <a:srgbClr val="757575"/>
                </a:solidFill>
                <a:latin typeface="Calibri"/>
              </a:defRPr>
            </a:pPr>
            <a:r>
              <a:t>│  [ Role: ▼ student  ]   │</a:t>
            </a:r>
          </a:p>
          <a:p>
            <a:pPr>
              <a:defRPr sz="700">
                <a:solidFill>
                  <a:srgbClr val="757575"/>
                </a:solidFill>
                <a:latin typeface="Calibri"/>
              </a:defRPr>
            </a:pPr>
            <a:r>
              <a:t>│                         │</a:t>
            </a:r>
          </a:p>
          <a:p>
            <a:pPr>
              <a:defRPr sz="700">
                <a:solidFill>
                  <a:srgbClr val="757575"/>
                </a:solidFill>
                <a:latin typeface="Calibri"/>
              </a:defRPr>
            </a:pPr>
            <a:r>
              <a:t>│  [ ▶ LOGIN ]            │</a:t>
            </a:r>
          </a:p>
          <a:p>
            <a:pPr>
              <a:defRPr sz="700">
                <a:solidFill>
                  <a:srgbClr val="757575"/>
                </a:solidFill>
                <a:latin typeface="Calibri"/>
              </a:defRPr>
            </a:pPr>
            <a:r>
              <a:t>│                         │</a:t>
            </a:r>
          </a:p>
          <a:p>
            <a:pPr>
              <a:defRPr sz="700">
                <a:solidFill>
                  <a:srgbClr val="757575"/>
                </a:solidFill>
                <a:latin typeface="Calibri"/>
              </a:defRPr>
            </a:pPr>
            <a:r>
              <a:t>│  Don't have an account? │</a:t>
            </a:r>
          </a:p>
          <a:p>
            <a:pPr>
              <a:defRPr sz="700">
                <a:solidFill>
                  <a:srgbClr val="757575"/>
                </a:solidFill>
                <a:latin typeface="Calibri"/>
              </a:defRPr>
            </a:pPr>
            <a:r>
              <a:t>│  [ Register → ]         │</a:t>
            </a:r>
          </a:p>
          <a:p>
            <a:pPr>
              <a:defRPr sz="700">
                <a:solidFill>
                  <a:srgbClr val="757575"/>
                </a:solidFill>
                <a:latin typeface="Calibri"/>
              </a:defRPr>
            </a:pPr>
            <a:r>
              <a:t>└─────────────────────────┘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1005840"/>
            <a:ext cx="3657600" cy="3474720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33333"/>
                </a:solidFill>
                <a:latin typeface="Calibri"/>
              </a:defRPr>
            </a:pPr>
            <a:r>
              <a:t>REGISTRATION SCREEN</a:t>
            </a:r>
          </a:p>
          <a:p>
            <a:pPr>
              <a:defRPr sz="700">
                <a:solidFill>
                  <a:srgbClr val="757575"/>
                </a:solidFill>
                <a:latin typeface="Calibri"/>
              </a:defRPr>
            </a:pPr>
            <a:r>
              <a:t>┌─────────────────────────┐</a:t>
            </a:r>
          </a:p>
          <a:p>
            <a:pPr>
              <a:defRPr sz="700">
                <a:solidFill>
                  <a:srgbClr val="757575"/>
                </a:solidFill>
                <a:latin typeface="Calibri"/>
              </a:defRPr>
            </a:pPr>
            <a:r>
              <a:t>│  Create Account         │</a:t>
            </a:r>
          </a:p>
          <a:p>
            <a:pPr>
              <a:defRPr sz="700">
                <a:solidFill>
                  <a:srgbClr val="757575"/>
                </a:solidFill>
                <a:latin typeface="Calibri"/>
              </a:defRPr>
            </a:pPr>
            <a:r>
              <a:t>│  ═══════════════════    │</a:t>
            </a:r>
          </a:p>
          <a:p>
            <a:pPr>
              <a:defRPr sz="700">
                <a:solidFill>
                  <a:srgbClr val="757575"/>
                </a:solidFill>
                <a:latin typeface="Calibri"/>
              </a:defRPr>
            </a:pPr>
            <a:r>
              <a:t>│  [ Full Name        ]   │</a:t>
            </a:r>
          </a:p>
          <a:p>
            <a:pPr>
              <a:defRPr sz="700">
                <a:solidFill>
                  <a:srgbClr val="757575"/>
                </a:solidFill>
                <a:latin typeface="Calibri"/>
              </a:defRPr>
            </a:pPr>
            <a:r>
              <a:t>│  [ Roll Number      ]   │</a:t>
            </a:r>
          </a:p>
          <a:p>
            <a:pPr>
              <a:defRPr sz="700">
                <a:solidFill>
                  <a:srgbClr val="757575"/>
                </a:solidFill>
                <a:latin typeface="Calibri"/>
              </a:defRPr>
            </a:pPr>
            <a:r>
              <a:t>│  [ ●●●●●●●●        ]   │</a:t>
            </a:r>
          </a:p>
          <a:p>
            <a:pPr>
              <a:defRPr sz="700">
                <a:solidFill>
                  <a:srgbClr val="757575"/>
                </a:solidFill>
                <a:latin typeface="Calibri"/>
              </a:defRPr>
            </a:pPr>
            <a:r>
              <a:t>│  [ Role: ▼ student  ]   │</a:t>
            </a:r>
          </a:p>
          <a:p>
            <a:pPr>
              <a:defRPr sz="700">
                <a:solidFill>
                  <a:srgbClr val="757575"/>
                </a:solidFill>
                <a:latin typeface="Calibri"/>
              </a:defRPr>
            </a:pPr>
            <a:r>
              <a:t>│                         │</a:t>
            </a:r>
          </a:p>
          <a:p>
            <a:pPr>
              <a:defRPr sz="700">
                <a:solidFill>
                  <a:srgbClr val="757575"/>
                </a:solidFill>
                <a:latin typeface="Calibri"/>
              </a:defRPr>
            </a:pPr>
            <a:r>
              <a:t>│  [ ▶ REGISTER ]         │</a:t>
            </a:r>
          </a:p>
          <a:p>
            <a:pPr>
              <a:defRPr sz="700">
                <a:solidFill>
                  <a:srgbClr val="757575"/>
                </a:solidFill>
                <a:latin typeface="Calibri"/>
              </a:defRPr>
            </a:pPr>
            <a:r>
              <a:t>│                         │</a:t>
            </a:r>
          </a:p>
          <a:p>
            <a:pPr>
              <a:defRPr sz="700">
                <a:solidFill>
                  <a:srgbClr val="757575"/>
                </a:solidFill>
                <a:latin typeface="Calibri"/>
              </a:defRPr>
            </a:pPr>
            <a:r>
              <a:t>│  Already registered?    │</a:t>
            </a:r>
          </a:p>
          <a:p>
            <a:pPr>
              <a:defRPr sz="700">
                <a:solidFill>
                  <a:srgbClr val="757575"/>
                </a:solidFill>
                <a:latin typeface="Calibri"/>
              </a:defRPr>
            </a:pPr>
            <a:r>
              <a:t>│  [ ← Login ]            │</a:t>
            </a:r>
          </a:p>
          <a:p>
            <a:pPr>
              <a:defRPr sz="700">
                <a:solidFill>
                  <a:srgbClr val="757575"/>
                </a:solidFill>
                <a:latin typeface="Calibri"/>
              </a:defRPr>
            </a:pPr>
            <a:r>
              <a:t>└─────────────────────────┘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UI Design — Admin (Issuer)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33333"/>
                </a:solidFill>
                <a:latin typeface="Calibri"/>
              </a:defRPr>
            </a:pPr>
            <a:r>
              <a:t>ADMIN DASHBOARD — Focus-Mode Shell</a:t>
            </a:r>
          </a:p>
          <a:p>
            <a:pPr>
              <a:defRPr sz="700">
                <a:solidFill>
                  <a:srgbClr val="757575"/>
                </a:solidFill>
                <a:latin typeface="Calibri"/>
              </a:defRPr>
            </a:pPr>
            <a:r>
              <a:t>┌──┬─────────────────────────────────────────────────────────────────────┐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defRPr sz="700">
                <a:solidFill>
                  <a:srgbClr val="757575"/>
                </a:solidFill>
                <a:latin typeface="Calibri"/>
              </a:defRPr>
            </a:pPr>
            <a:r>
              <a:t>│☰ │   Admin Dashboard  ▸  Students                    [ ⏻ Logout ]     │</a:t>
            </a:r>
          </a:p>
          <a:p>
            <a:pPr>
              <a:defRPr sz="700">
                <a:solidFill>
                  <a:srgbClr val="757575"/>
                </a:solidFill>
                <a:latin typeface="Calibri"/>
              </a:defRPr>
            </a:pPr>
            <a:r>
              <a:t>├──┤─────────────────────────────────────────────────────────────────────┤</a:t>
            </a:r>
          </a:p>
          <a:p>
            <a:pPr>
              <a:defRPr sz="700">
                <a:solidFill>
                  <a:srgbClr val="757575"/>
                </a:solidFill>
                <a:latin typeface="Calibri"/>
              </a:defRPr>
            </a:pPr>
            <a:r>
              <a:t>│  │                                                                     │</a:t>
            </a:r>
          </a:p>
          <a:p>
            <a:pPr>
              <a:defRPr sz="700">
                <a:solidFill>
                  <a:srgbClr val="757575"/>
                </a:solidFill>
                <a:latin typeface="Calibri"/>
              </a:defRPr>
            </a:pPr>
            <a:r>
              <a:t>│ MENU │   Student List — Overview &amp; Credential Issuance                 │</a:t>
            </a:r>
          </a:p>
          <a:p>
            <a:pPr>
              <a:defRPr sz="700">
                <a:solidFill>
                  <a:srgbClr val="757575"/>
                </a:solidFill>
                <a:latin typeface="Calibri"/>
              </a:defRPr>
            </a:pPr>
            <a:r>
              <a:t>│  │   ┌────────┬───────────┬─────────┬───────┬────────────┐            │</a:t>
            </a:r>
          </a:p>
          <a:p>
            <a:pPr>
              <a:defRPr sz="700">
                <a:solidFill>
                  <a:srgbClr val="757575"/>
                </a:solidFill>
                <a:latin typeface="Calibri"/>
              </a:defRPr>
            </a:pPr>
            <a:r>
              <a:t>│ ☐ Overview │ Name  │ Roll No   │ DID?  │ Actions  │            │</a:t>
            </a:r>
          </a:p>
          <a:p>
            <a:pPr>
              <a:defRPr sz="700">
                <a:solidFill>
                  <a:srgbClr val="757575"/>
                </a:solidFill>
                <a:latin typeface="Calibri"/>
              </a:defRPr>
            </a:pPr>
            <a:r>
              <a:t>│ ☐ Students │       │           │       │          │            │</a:t>
            </a:r>
          </a:p>
          <a:p>
            <a:pPr>
              <a:defRPr sz="700">
                <a:solidFill>
                  <a:srgbClr val="757575"/>
                </a:solidFill>
                <a:latin typeface="Calibri"/>
              </a:defRPr>
            </a:pPr>
            <a:r>
              <a:t>│ ☐ Issue VC │ Sankalp│ 2021CS123 │  ✓    │ [Issue▼]│            │</a:t>
            </a:r>
          </a:p>
          <a:p>
            <a:pPr>
              <a:defRPr sz="700">
                <a:solidFill>
                  <a:srgbClr val="757575"/>
                </a:solidFill>
                <a:latin typeface="Calibri"/>
              </a:defRPr>
            </a:pPr>
            <a:r>
              <a:t>│  │         │ Rahul  │ 2021EE045 │  ✗    │ [—]     │            │</a:t>
            </a:r>
          </a:p>
          <a:p>
            <a:pPr>
              <a:defRPr sz="700">
                <a:solidFill>
                  <a:srgbClr val="757575"/>
                </a:solidFill>
                <a:latin typeface="Calibri"/>
              </a:defRPr>
            </a:pPr>
            <a:r>
              <a:t>│  │         └────────┴───────────┴───────┴────────────┘            │</a:t>
            </a:r>
          </a:p>
          <a:p>
            <a:pPr>
              <a:defRPr sz="700">
                <a:solidFill>
                  <a:srgbClr val="757575"/>
                </a:solidFill>
                <a:latin typeface="Calibri"/>
              </a:defRPr>
            </a:pPr>
            <a:r>
              <a:t>│  │                                                                     │</a:t>
            </a:r>
          </a:p>
          <a:p>
            <a:pPr>
              <a:defRPr sz="700">
                <a:solidFill>
                  <a:srgbClr val="757575"/>
                </a:solidFill>
                <a:latin typeface="Calibri"/>
              </a:defRPr>
            </a:pPr>
            <a:r>
              <a:t>│  │   Issue Credential: [ Select Student ▼ ] [ Type: Degree ▼ ]         │</a:t>
            </a:r>
          </a:p>
          <a:p>
            <a:pPr>
              <a:defRPr sz="700">
                <a:solidFill>
                  <a:srgbClr val="757575"/>
                </a:solidFill>
                <a:latin typeface="Calibri"/>
              </a:defRPr>
            </a:pPr>
            <a:r>
              <a:t>│  │   [ Degree ] [ Branch ] [ CGPA ] [ Year ] → [ Generate QR ]         │</a:t>
            </a:r>
          </a:p>
          <a:p>
            <a:pPr>
              <a:defRPr sz="700">
                <a:solidFill>
                  <a:srgbClr val="757575"/>
                </a:solidFill>
                <a:latin typeface="Calibri"/>
              </a:defRPr>
            </a:pPr>
            <a:r>
              <a:t>└──┴─────────────────────────────────────────────────────────────────────┘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UI Design — Student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33333"/>
                </a:solidFill>
                <a:latin typeface="Calibri"/>
              </a:defRPr>
            </a:pPr>
            <a:r>
              <a:t>STUDENT DASHBOARD — Focus-Mode Shell</a:t>
            </a:r>
          </a:p>
          <a:p>
            <a:pPr>
              <a:defRPr sz="700">
                <a:solidFill>
                  <a:srgbClr val="757575"/>
                </a:solidFill>
                <a:latin typeface="Calibri"/>
              </a:defRPr>
            </a:pPr>
            <a:r>
              <a:t>┌──┬─────────────────────────────────────────────────────────────────────┐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defRPr sz="700">
                <a:solidFill>
                  <a:srgbClr val="757575"/>
                </a:solidFill>
                <a:latin typeface="Calibri"/>
              </a:defRPr>
            </a:pPr>
            <a:r>
              <a:t>│☰ │   Student Dashboard  ▸  My Credentials            [ ⏻ Logout ]     │</a:t>
            </a:r>
          </a:p>
          <a:p>
            <a:pPr>
              <a:defRPr sz="700">
                <a:solidFill>
                  <a:srgbClr val="757575"/>
                </a:solidFill>
                <a:latin typeface="Calibri"/>
              </a:defRPr>
            </a:pPr>
            <a:r>
              <a:t>├──┤─────────────────────────────────────────────────────────────────────┤</a:t>
            </a:r>
          </a:p>
          <a:p>
            <a:pPr>
              <a:defRPr sz="700">
                <a:solidFill>
                  <a:srgbClr val="757575"/>
                </a:solidFill>
                <a:latin typeface="Calibri"/>
              </a:defRPr>
            </a:pPr>
            <a:r>
              <a:t>│  │                                                                     │</a:t>
            </a:r>
          </a:p>
          <a:p>
            <a:pPr>
              <a:defRPr sz="700">
                <a:solidFill>
                  <a:srgbClr val="757575"/>
                </a:solidFill>
                <a:latin typeface="Calibri"/>
              </a:defRPr>
            </a:pPr>
            <a:r>
              <a:t>│ MENU │   My Credentials                                                │</a:t>
            </a:r>
          </a:p>
          <a:p>
            <a:pPr>
              <a:defRPr sz="700">
                <a:solidFill>
                  <a:srgbClr val="757575"/>
                </a:solidFill>
                <a:latin typeface="Calibri"/>
              </a:defRPr>
            </a:pPr>
            <a:r>
              <a:t>│  │   ┌─────────────────────────────────────────────────┐              │</a:t>
            </a:r>
          </a:p>
          <a:p>
            <a:pPr>
              <a:defRPr sz="700">
                <a:solidFill>
                  <a:srgbClr val="757575"/>
                </a:solidFill>
                <a:latin typeface="Calibri"/>
              </a:defRPr>
            </a:pPr>
            <a:r>
              <a:t>│ ☐ Overview │  PENDING OFFERS (scan QR with Altme)      │              │</a:t>
            </a:r>
          </a:p>
          <a:p>
            <a:pPr>
              <a:defRPr sz="700">
                <a:solidFill>
                  <a:srgbClr val="757575"/>
                </a:solidFill>
                <a:latin typeface="Calibri"/>
              </a:defRPr>
            </a:pPr>
            <a:r>
              <a:t>│ ☐ Credentials │  ╔═══════════════════════════╗         │              │</a:t>
            </a:r>
          </a:p>
          <a:p>
            <a:pPr>
              <a:defRPr sz="700">
                <a:solidFill>
                  <a:srgbClr val="757575"/>
                </a:solidFill>
                <a:latin typeface="Calibri"/>
              </a:defRPr>
            </a:pPr>
            <a:r>
              <a:t>│ ☐ Challenges  │  ║ B.Tech Degree  [QR CODE]  ║         │              │</a:t>
            </a:r>
          </a:p>
          <a:p>
            <a:pPr>
              <a:defRPr sz="700">
                <a:solidFill>
                  <a:srgbClr val="757575"/>
                </a:solidFill>
                <a:latin typeface="Calibri"/>
              </a:defRPr>
            </a:pPr>
            <a:r>
              <a:t>│  │            │  ║ Internship Cert [QR CODE]  ║         │              │</a:t>
            </a:r>
          </a:p>
          <a:p>
            <a:pPr>
              <a:defRPr sz="700">
                <a:solidFill>
                  <a:srgbClr val="757575"/>
                </a:solidFill>
                <a:latin typeface="Calibri"/>
              </a:defRPr>
            </a:pPr>
            <a:r>
              <a:t>│  │            │  ╚═══════════════════════════╝         │              │</a:t>
            </a:r>
          </a:p>
          <a:p>
            <a:pPr>
              <a:defRPr sz="700">
                <a:solidFill>
                  <a:srgbClr val="757575"/>
                </a:solidFill>
                <a:latin typeface="Calibri"/>
              </a:defRPr>
            </a:pPr>
            <a:r>
              <a:t>│  │   ├─────────────────────────────────────────────────┤              │</a:t>
            </a:r>
          </a:p>
          <a:p>
            <a:pPr>
              <a:defRPr sz="700">
                <a:solidFill>
                  <a:srgbClr val="757575"/>
                </a:solidFill>
                <a:latin typeface="Calibri"/>
              </a:defRPr>
            </a:pPr>
            <a:r>
              <a:t>│  │   │  CLAIMED CREDENTIALS (in wallet)                │              │</a:t>
            </a:r>
          </a:p>
          <a:p>
            <a:pPr>
              <a:defRPr sz="700">
                <a:solidFill>
                  <a:srgbClr val="757575"/>
                </a:solidFill>
                <a:latin typeface="Calibri"/>
              </a:defRPr>
            </a:pPr>
            <a:r>
              <a:t>│  │   │  ✓ UniversityDegreeCredential — 2025-01-15     │              │</a:t>
            </a:r>
          </a:p>
          <a:p>
            <a:pPr>
              <a:defRPr sz="700">
                <a:solidFill>
                  <a:srgbClr val="757575"/>
                </a:solidFill>
                <a:latin typeface="Calibri"/>
              </a:defRPr>
            </a:pPr>
            <a:r>
              <a:t>└──┴───┴─────────────────────────────────────────────────────────────────┘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UI Design — Verifier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33333"/>
                </a:solidFill>
                <a:latin typeface="Calibri"/>
              </a:defRPr>
            </a:pPr>
            <a:r>
              <a:t>VERIFIER DASHBOARD — Focus-Mode Shell</a:t>
            </a:r>
          </a:p>
          <a:p>
            <a:pPr>
              <a:defRPr sz="700">
                <a:solidFill>
                  <a:srgbClr val="757575"/>
                </a:solidFill>
                <a:latin typeface="Calibri"/>
              </a:defRPr>
            </a:pPr>
            <a:r>
              <a:t>┌──┬─────────────────────────────────────────────────────────────────────┐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defRPr sz="700">
                <a:solidFill>
                  <a:srgbClr val="757575"/>
                </a:solidFill>
                <a:latin typeface="Calibri"/>
              </a:defRPr>
            </a:pPr>
            <a:r>
              <a:t>│☰ │   Verifier Dashboard  ▸  Proof Request             [ ⏻ Logout ]    │</a:t>
            </a:r>
          </a:p>
          <a:p>
            <a:pPr>
              <a:defRPr sz="700">
                <a:solidFill>
                  <a:srgbClr val="757575"/>
                </a:solidFill>
                <a:latin typeface="Calibri"/>
              </a:defRPr>
            </a:pPr>
            <a:r>
              <a:t>├──┤─────────────────────────────────────────────────────────────────────┤</a:t>
            </a:r>
          </a:p>
          <a:p>
            <a:pPr>
              <a:defRPr sz="700">
                <a:solidFill>
                  <a:srgbClr val="757575"/>
                </a:solidFill>
                <a:latin typeface="Calibri"/>
              </a:defRPr>
            </a:pPr>
            <a:r>
              <a:t>│  │                                                                     │</a:t>
            </a:r>
          </a:p>
          <a:p>
            <a:pPr>
              <a:defRPr sz="700">
                <a:solidFill>
                  <a:srgbClr val="757575"/>
                </a:solidFill>
                <a:latin typeface="Calibri"/>
              </a:defRPr>
            </a:pPr>
            <a:r>
              <a:t>│ MENU │   Request Credential Proof                                      │</a:t>
            </a:r>
          </a:p>
          <a:p>
            <a:pPr>
              <a:defRPr sz="700">
                <a:solidFill>
                  <a:srgbClr val="757575"/>
                </a:solidFill>
                <a:latin typeface="Calibri"/>
              </a:defRPr>
            </a:pPr>
            <a:r>
              <a:t>│  │   ┌─────────────────────────────────────────────┐                  │</a:t>
            </a:r>
          </a:p>
          <a:p>
            <a:pPr>
              <a:defRPr sz="700">
                <a:solidFill>
                  <a:srgbClr val="757575"/>
                </a:solidFill>
                <a:latin typeface="Calibri"/>
              </a:defRPr>
            </a:pPr>
            <a:r>
              <a:t>│ ☐ Request │  Select Student: [ ▼ did:web:...  ]    │                  │</a:t>
            </a:r>
          </a:p>
          <a:p>
            <a:pPr>
              <a:defRPr sz="700">
                <a:solidFill>
                  <a:srgbClr val="757575"/>
                </a:solidFill>
                <a:latin typeface="Calibri"/>
              </a:defRPr>
            </a:pPr>
            <a:r>
              <a:t>│ ☐ History │                                         │                  │</a:t>
            </a:r>
          </a:p>
          <a:p>
            <a:pPr>
              <a:defRPr sz="700">
                <a:solidFill>
                  <a:srgbClr val="757575"/>
                </a:solidFill>
                <a:latin typeface="Calibri"/>
              </a:defRPr>
            </a:pPr>
            <a:r>
              <a:t>│ ☐ Overview│  [ ▶ Generate QR ]                      │                  │</a:t>
            </a:r>
          </a:p>
          <a:p>
            <a:pPr>
              <a:defRPr sz="700">
                <a:solidFill>
                  <a:srgbClr val="757575"/>
                </a:solidFill>
                <a:latin typeface="Calibri"/>
              </a:defRPr>
            </a:pPr>
            <a:r>
              <a:t>│  │        │                                         │                  │</a:t>
            </a:r>
          </a:p>
          <a:p>
            <a:pPr>
              <a:defRPr sz="700">
                <a:solidFill>
                  <a:srgbClr val="757575"/>
                </a:solidFill>
                <a:latin typeface="Calibri"/>
              </a:defRPr>
            </a:pPr>
            <a:r>
              <a:t>│  │        │  ╔═══════════════════╗    Status:       │                  │</a:t>
            </a:r>
          </a:p>
          <a:p>
            <a:pPr>
              <a:defRPr sz="700">
                <a:solidFill>
                  <a:srgbClr val="757575"/>
                </a:solidFill>
                <a:latin typeface="Calibri"/>
              </a:defRPr>
            </a:pPr>
            <a:r>
              <a:t>│  │        │  ║   [QR CODE]       ║    ⏳ PENDING... │                  │</a:t>
            </a:r>
          </a:p>
          <a:p>
            <a:pPr>
              <a:defRPr sz="700">
                <a:solidFill>
                  <a:srgbClr val="757575"/>
                </a:solidFill>
                <a:latin typeface="Calibri"/>
              </a:defRPr>
            </a:pPr>
            <a:r>
              <a:t>│  │        │  ║  openid4vp://     ║    → ✓ VERIFIED │                  │</a:t>
            </a:r>
          </a:p>
          <a:p>
            <a:pPr>
              <a:defRPr sz="700">
                <a:solidFill>
                  <a:srgbClr val="757575"/>
                </a:solidFill>
                <a:latin typeface="Calibri"/>
              </a:defRPr>
            </a:pPr>
            <a:r>
              <a:t>│  │        │  ╚═══════════════════╝                  │                  │</a:t>
            </a:r>
          </a:p>
          <a:p>
            <a:pPr>
              <a:defRPr sz="700">
                <a:solidFill>
                  <a:srgbClr val="757575"/>
                </a:solidFill>
                <a:latin typeface="Calibri"/>
              </a:defRPr>
            </a:pPr>
            <a:r>
              <a:t>└──┴────────┴─────────────────────────────────────────────────────────────┘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14. Reference Standards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0CAF9"/>
                </a:solidFill>
                <a:latin typeface="Calibri"/>
              </a:defRPr>
            </a:pPr>
            <a:r>
              <a:t>W3C, IETF, OpenID Foundation, ISO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Reference Standards &amp; Specifications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4114800" cy="164592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300" b="1">
                <a:solidFill>
                  <a:srgbClr val="1A237E"/>
                </a:solidFill>
                <a:latin typeface="Calibri"/>
              </a:defRPr>
            </a:pPr>
            <a:r>
              <a:t>① W3C Standards (Define Quality)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DID Core v1.0 — Decentralized Identifiers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VC Data Model v1.1 — Verifiable Credentials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DID:web Method Specification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JsonWebKey2020 Verification Method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914400"/>
            <a:ext cx="4114800" cy="164592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300" b="1">
                <a:solidFill>
                  <a:srgbClr val="1B5E20"/>
                </a:solidFill>
                <a:latin typeface="Calibri"/>
              </a:defRPr>
            </a:pPr>
            <a:r>
              <a:t>② OpenID Foundation (Build Quality)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OID4VCI Draft 13+ — Credential Issuance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OID4VP Draft 20 — Verifiable Presentations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DIF Presentation Exchange v2.0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Pre-Authorized Code Grant Type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834640"/>
            <a:ext cx="4114800" cy="1645920"/>
          </a:xfrm>
          <a:prstGeom prst="roundRect">
            <a:avLst/>
          </a:prstGeom>
          <a:solidFill>
            <a:srgbClr val="FDF1E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300" b="1">
                <a:solidFill>
                  <a:srgbClr val="E65100"/>
                </a:solidFill>
                <a:latin typeface="Calibri"/>
              </a:defRPr>
            </a:pPr>
            <a:r>
              <a:t>③ IETF Standards (Security)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RFC 7518 — JSON Web Algorithms (ES256)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RFC 7517 — JSON Web Key (JWK)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RFC 7519 — JSON Web Token (JWT)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RFC 6749 — OAuth 2.0 Framework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2834640"/>
            <a:ext cx="4114800" cy="1645920"/>
          </a:xfrm>
          <a:prstGeom prst="roundRect">
            <a:avLst/>
          </a:prstGeom>
          <a:solidFill>
            <a:srgbClr val="F3E5F5"/>
          </a:solidFill>
          <a:ln w="1905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300" b="1">
                <a:solidFill>
                  <a:srgbClr val="4A148C"/>
                </a:solidFill>
                <a:latin typeface="Calibri"/>
              </a:defRPr>
            </a:pPr>
            <a:r>
              <a:t>④ ISO Quality Standards (Reference)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ISO/IEC/IEEE 29148 — Requirements Eng.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ISO/IEC 25010:2011 — Product Quality Model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ISO/IEC 25019:2023 — Quality in Use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OWASP Top 10 — Security Best Practices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Cryptographic Flow — Key Management &amp; Signing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05840"/>
            <a:ext cx="2560320" cy="365760"/>
          </a:xfrm>
          <a:prstGeom prst="roundRect">
            <a:avLst/>
          </a:prstGeom>
          <a:solidFill>
            <a:srgbClr val="0D47A1"/>
          </a:solidFill>
          <a:ln w="1270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1. Key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389888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generate_ec_key_pair()</a:t>
            </a:r>
            <a:br/>
            <a:r>
              <a:t>→ EC P-256 private/public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005840"/>
            <a:ext cx="2560320" cy="365760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2. DID Construction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1389888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did:web:{domain}:students:{id}</a:t>
            </a:r>
            <a:br/>
            <a:r>
              <a:t>+ publicKeyJwk in DID Doc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005840"/>
            <a:ext cx="2560320" cy="365760"/>
          </a:xfrm>
          <a:prstGeom prst="roundRect">
            <a:avLst/>
          </a:prstGeom>
          <a:solidFill>
            <a:srgbClr val="1B5E20"/>
          </a:solidFill>
          <a:ln w="1270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3. VC Signing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389888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Issuer signs VC payload</a:t>
            </a:r>
            <a:br/>
            <a:r>
              <a:t>with issuer private key (ES256)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2560320" cy="365760"/>
          </a:xfrm>
          <a:prstGeom prst="roundRect">
            <a:avLst/>
          </a:prstGeom>
          <a:solidFill>
            <a:srgbClr val="4A148C"/>
          </a:solidFill>
          <a:ln w="1270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4. Wallet Binding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944368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Wallet proof JWT header</a:t>
            </a:r>
            <a:br/>
            <a:r>
              <a:t>→ extract wallet pub key</a:t>
            </a:r>
            <a:br/>
            <a:r>
              <a:t>→ update student DID doc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2560320"/>
            <a:ext cx="2560320" cy="365760"/>
          </a:xfrm>
          <a:prstGeom prst="roundRect">
            <a:avLst/>
          </a:prstGeom>
          <a:solidFill>
            <a:srgbClr val="E65100"/>
          </a:solidFill>
          <a:ln w="1270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5. VP Construction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944368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Wallet wraps VC in VP</a:t>
            </a:r>
            <a:br/>
            <a:r>
              <a:t>signs with holder key (ES256)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560320"/>
            <a:ext cx="2560320" cy="365760"/>
          </a:xfrm>
          <a:prstGeom prst="roundRect">
            <a:avLst/>
          </a:prstGeom>
          <a:solidFill>
            <a:srgbClr val="C62828"/>
          </a:solidFill>
          <a:ln w="1270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6. Verification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944368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Resolve DIDs → get pub keys</a:t>
            </a:r>
            <a:br/>
            <a:r>
              <a:t>Verify VP sig (holder)</a:t>
            </a:r>
            <a:br/>
            <a:r>
              <a:t>Verify VC sig (issuer)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11887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33333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11887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33333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27432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33333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27432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33333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219456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33333"/>
                </a:solidFill>
                <a:latin typeface="Calibri"/>
              </a:defRPr>
            </a:pPr>
            <a:r>
              <a:t>↓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Complete API Endpoint Reference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" y="868680"/>
          <a:ext cx="8869679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574"/>
                <a:gridCol w="2926994"/>
                <a:gridCol w="886968"/>
                <a:gridCol w="4346143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Endpoint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Auth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/auth/register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Register new user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/auth/login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Login, get JWT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/auth/token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OID4VCI token exchange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/students/did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Student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Create DID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/students/did/rotate-key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Rotate DID key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/students/vcs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Student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List VCs + offers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/students/challenges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List verification challenges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/admin/students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Admin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List all students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/admin/issue-vc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Create credential offer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/admin/issue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Bearer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OID4VCI credential endpoint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/verify/init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Verifier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Start OID4VP session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/api/verify/request/{id}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Serve signed request JWT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/api/verify/callback/{id}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Wallet VP callback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/verify/status/{id}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Verifier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Poll verification result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/verify/history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Verifier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List past verifications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/.well-known/openid-credential-issuer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OID4VCI discovery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8016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DEFB"/>
                </a:solidFill>
                <a:latin typeface="Calibri"/>
              </a:defRPr>
            </a:pPr>
            <a:r>
              <a:t>IIT Hyderabad — Self-Sovereign Identity Portal</a:t>
            </a:r>
            <a:br/>
            <a:r>
              <a:t>Decentralized Credentials for the Future of Education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