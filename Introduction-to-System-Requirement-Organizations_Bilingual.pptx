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80" r:id="rId2"/>
    <p:sldId id="281" r:id="rId3"/>
    <p:sldId id="282" r:id="rId4"/>
    <p:sldId id="283" r:id="rId5"/>
    <p:sldId id="284" r:id="rId6"/>
    <p:sldId id="286" r:id="rId7"/>
    <p:sldId id="285" r:id="rId8"/>
    <p:sldId id="287" r:id="rId9"/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78" r:id="rId20"/>
    <p:sldId id="274" r:id="rId21"/>
    <p:sldId id="271" r:id="rId22"/>
    <p:sldId id="272" r:id="rId23"/>
    <p:sldId id="273" r:id="rId24"/>
    <p:sldId id="267" r:id="rId25"/>
    <p:sldId id="270" r:id="rId26"/>
    <p:sldId id="268" r:id="rId27"/>
    <p:sldId id="269" r:id="rId28"/>
    <p:sldId id="275" r:id="rId29"/>
    <p:sldId id="276" r:id="rId30"/>
    <p:sldId id="279" r:id="rId31"/>
    <p:sldId id="277" r:id="rId3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0"/>
  </p:normalViewPr>
  <p:slideViewPr>
    <p:cSldViewPr snapToGrid="0" snapToObjects="1">
      <p:cViewPr varScale="1">
        <p:scale>
          <a:sx n="158" d="100"/>
          <a:sy n="158" d="100"/>
        </p:scale>
        <p:origin x="320" y="1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95B80-CD3B-9040-9A39-EE7F4F0F8ED0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248535-1E2E-D947-B3A1-39C0382C6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83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48535-1E2E-D947-B3A1-39C0382C6A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74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4058BC-4BAD-F824-4220-AA0751B2FB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Introduction to System Design and</a:t>
            </a:r>
            <a:br>
              <a:rPr lang="en-US" sz="2800" dirty="0"/>
            </a:br>
            <a:r>
              <a:rPr lang="en-US" sz="2800" dirty="0"/>
              <a:t>Software Requirements Specification</a:t>
            </a:r>
            <a:br>
              <a:rPr lang="en-US" sz="2800" dirty="0"/>
            </a:br>
            <a:r>
              <a:rPr lang="en-US" sz="2800" dirty="0" err="1"/>
              <a:t>アプリ設計とソフトウェア要求仕様の概要</a:t>
            </a:r>
            <a:endParaRPr lang="en-US" sz="28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74997BA-4BD9-99A4-0EE2-2BA0748552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Kotaro Kataoka</a:t>
            </a:r>
          </a:p>
          <a:p>
            <a:r>
              <a:rPr lang="en-US" dirty="0"/>
              <a:t>Indian Institute of Technology Hyderabad</a:t>
            </a:r>
          </a:p>
        </p:txBody>
      </p:sp>
    </p:spTree>
    <p:extLst>
      <p:ext uri="{BB962C8B-B14F-4D97-AF65-F5344CB8AC3E}">
        <p14:creationId xmlns:p14="http://schemas.microsoft.com/office/powerpoint/2010/main" val="1125102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D4FD7-69CD-9672-31E4-C52DEAA83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software design? / </a:t>
            </a:r>
            <a:r>
              <a:rPr lang="en-US" dirty="0" err="1"/>
              <a:t>アプリ設計ってなに</a:t>
            </a:r>
            <a:r>
              <a:rPr lang="en-US" dirty="0"/>
              <a:t>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78DDF-7B3E-7F3D-DA42-3390691CB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ja-JP" altLang="en-US"/>
              <a:t>「何を作るか」を決めた後に「どう作るか」を決める工程</a:t>
            </a:r>
          </a:p>
          <a:p>
            <a:r>
              <a:rPr lang="en-US" dirty="0"/>
              <a:t>The step to decide HOW to build the system after deciding WHAT to build.</a:t>
            </a:r>
          </a:p>
          <a:p>
            <a:endParaRPr lang="en-US" dirty="0"/>
          </a:p>
          <a:p>
            <a:r>
              <a:rPr lang="ja-JP" altLang="en-US"/>
              <a:t>開発プロセス </a:t>
            </a:r>
            <a:r>
              <a:rPr lang="en-US" altLang="ja-JP" dirty="0"/>
              <a:t>/ </a:t>
            </a:r>
            <a:r>
              <a:rPr lang="en-US" dirty="0"/>
              <a:t>Development Process</a:t>
            </a:r>
          </a:p>
          <a:p>
            <a:pPr marL="800100" lvl="1" indent="-457200">
              <a:buFont typeface="+mj-lt"/>
              <a:buAutoNum type="arabicPeriod"/>
            </a:pPr>
            <a:r>
              <a:rPr lang="ja-JP" altLang="en-US"/>
              <a:t>要件定義 </a:t>
            </a:r>
            <a:r>
              <a:rPr lang="en-US" dirty="0"/>
              <a:t>Requirements (What to build)</a:t>
            </a:r>
          </a:p>
          <a:p>
            <a:pPr marL="800100" lvl="1" indent="-457200">
              <a:buFont typeface="+mj-lt"/>
              <a:buAutoNum type="arabicPeriod"/>
            </a:pPr>
            <a:r>
              <a:rPr lang="ja-JP" altLang="en-US"/>
              <a:t>アプリ設計 </a:t>
            </a:r>
            <a:r>
              <a:rPr lang="en-US" dirty="0"/>
              <a:t>Application Design (How to build)</a:t>
            </a:r>
          </a:p>
          <a:p>
            <a:pPr marL="800100" lvl="1" indent="-457200">
              <a:buFont typeface="+mj-lt"/>
              <a:buAutoNum type="arabicPeriod"/>
            </a:pPr>
            <a:r>
              <a:rPr lang="ja-JP" altLang="en-US"/>
              <a:t>実装 </a:t>
            </a:r>
            <a:r>
              <a:rPr lang="en-US" dirty="0"/>
              <a:t>Implementation / Coding</a:t>
            </a:r>
          </a:p>
          <a:p>
            <a:pPr marL="800100" lvl="1" indent="-457200">
              <a:buFont typeface="+mj-lt"/>
              <a:buAutoNum type="arabicPeriod"/>
            </a:pPr>
            <a:r>
              <a:rPr lang="ja-JP" altLang="en-US"/>
              <a:t>テスト </a:t>
            </a:r>
            <a:r>
              <a:rPr lang="en-US" dirty="0"/>
              <a:t>Testing</a:t>
            </a:r>
          </a:p>
          <a:p>
            <a:pPr marL="800100" lvl="1" indent="-457200">
              <a:buFont typeface="+mj-lt"/>
              <a:buAutoNum type="arabicPeriod"/>
            </a:pPr>
            <a:r>
              <a:rPr lang="ja-JP" altLang="en-US"/>
              <a:t>運用 </a:t>
            </a:r>
            <a:r>
              <a:rPr lang="en-US" dirty="0"/>
              <a:t>Operation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430854-C54E-B221-74FE-0F0E0BA997C4}"/>
              </a:ext>
            </a:extLst>
          </p:cNvPr>
          <p:cNvSpPr/>
          <p:nvPr/>
        </p:nvSpPr>
        <p:spPr>
          <a:xfrm>
            <a:off x="4572000" y="3652156"/>
            <a:ext cx="4169229" cy="128536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Agile (</a:t>
            </a:r>
            <a:r>
              <a:rPr lang="en-US" sz="1600" dirty="0" err="1"/>
              <a:t>アジャイル</a:t>
            </a:r>
            <a:r>
              <a:rPr lang="en-US" sz="1600" dirty="0"/>
              <a:t>)</a:t>
            </a:r>
          </a:p>
          <a:p>
            <a:r>
              <a:rPr lang="en-US" sz="1600" dirty="0"/>
              <a:t>・</a:t>
            </a:r>
            <a:r>
              <a:rPr lang="en-US" sz="1600" dirty="0" err="1"/>
              <a:t>設計と実装を繰り返して仕様を策定していく方法もある</a:t>
            </a:r>
            <a:endParaRPr lang="en-US" sz="1600" dirty="0"/>
          </a:p>
          <a:p>
            <a:r>
              <a:rPr lang="en-US" sz="1600" dirty="0"/>
              <a:t>・Iterating the Design update and coding in a short period</a:t>
            </a:r>
          </a:p>
        </p:txBody>
      </p:sp>
    </p:spTree>
    <p:extLst>
      <p:ext uri="{BB962C8B-B14F-4D97-AF65-F5344CB8AC3E}">
        <p14:creationId xmlns:p14="http://schemas.microsoft.com/office/powerpoint/2010/main" val="2222082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E6498-7BD2-5F00-7450-B086DEE13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describe “how to build”? /</a:t>
            </a:r>
            <a:br>
              <a:rPr lang="en-US" dirty="0"/>
            </a:br>
            <a:r>
              <a:rPr lang="en-US" dirty="0" err="1"/>
              <a:t>アプリ設計ってどうやって記述するの</a:t>
            </a:r>
            <a:r>
              <a:rPr lang="en-US" dirty="0"/>
              <a:t>？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15C89-A533-2BC6-2CF4-1E4C213D6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253445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①</a:t>
            </a:r>
            <a:r>
              <a:rPr lang="ja-JP" altLang="en-US"/>
              <a:t> 画面設計 </a:t>
            </a:r>
            <a:r>
              <a:rPr lang="en-US" altLang="ja-JP" dirty="0"/>
              <a:t>/ </a:t>
            </a:r>
            <a:r>
              <a:rPr lang="en-US" dirty="0"/>
              <a:t>UI Design</a:t>
            </a:r>
          </a:p>
          <a:p>
            <a:pPr lvl="1"/>
            <a:r>
              <a:rPr lang="ja-JP" altLang="en-US"/>
              <a:t>画面構成、画面遷移、ワイヤーフレーム</a:t>
            </a:r>
          </a:p>
          <a:p>
            <a:pPr lvl="1"/>
            <a:r>
              <a:rPr lang="en-US" dirty="0"/>
              <a:t>Screens, navigation, wireframes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② </a:t>
            </a:r>
            <a:r>
              <a:rPr lang="ja-JP" altLang="en-US"/>
              <a:t>データ設計 </a:t>
            </a:r>
            <a:r>
              <a:rPr lang="en-US" altLang="ja-JP" dirty="0"/>
              <a:t>/ </a:t>
            </a:r>
            <a:r>
              <a:rPr lang="en-US" dirty="0"/>
              <a:t>Data Design</a:t>
            </a:r>
          </a:p>
          <a:p>
            <a:pPr lvl="1"/>
            <a:r>
              <a:rPr lang="ja-JP" altLang="en-US"/>
              <a:t>データベース構造、テーブル、</a:t>
            </a:r>
            <a:r>
              <a:rPr lang="en-US" dirty="0"/>
              <a:t>JSON</a:t>
            </a:r>
          </a:p>
          <a:p>
            <a:pPr lvl="1"/>
            <a:r>
              <a:rPr lang="en-US" dirty="0"/>
              <a:t>Database schema, tables, data structures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C26FD-C45B-489C-DFDB-D55395BA43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253445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③ </a:t>
            </a:r>
            <a:r>
              <a:rPr lang="ja-JP" altLang="en-US"/>
              <a:t>システム構成 </a:t>
            </a:r>
            <a:r>
              <a:rPr lang="en-US" altLang="ja-JP" dirty="0"/>
              <a:t>/ </a:t>
            </a:r>
            <a:r>
              <a:rPr lang="en-US" dirty="0"/>
              <a:t>Architecture</a:t>
            </a:r>
          </a:p>
          <a:p>
            <a:pPr lvl="1"/>
            <a:r>
              <a:rPr lang="ja-JP" altLang="en-US"/>
              <a:t>クライアント </a:t>
            </a:r>
            <a:r>
              <a:rPr lang="en-US" altLang="ja-JP" dirty="0"/>
              <a:t>/ </a:t>
            </a:r>
            <a:r>
              <a:rPr lang="ja-JP" altLang="en-US"/>
              <a:t>サーバ </a:t>
            </a:r>
            <a:r>
              <a:rPr lang="en-US" altLang="ja-JP" dirty="0"/>
              <a:t>/ </a:t>
            </a:r>
            <a:r>
              <a:rPr lang="en-US" dirty="0"/>
              <a:t>DB </a:t>
            </a:r>
            <a:r>
              <a:rPr lang="ja-JP" altLang="en-US"/>
              <a:t>構造</a:t>
            </a:r>
          </a:p>
          <a:p>
            <a:pPr lvl="1"/>
            <a:r>
              <a:rPr lang="en-US" dirty="0"/>
              <a:t>Client / Server / Database architecture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④ </a:t>
            </a:r>
            <a:r>
              <a:rPr lang="ja-JP" altLang="en-US"/>
              <a:t>処理設計 </a:t>
            </a:r>
            <a:r>
              <a:rPr lang="en-US" altLang="ja-JP" dirty="0"/>
              <a:t>/ </a:t>
            </a:r>
            <a:r>
              <a:rPr lang="en-US" dirty="0"/>
              <a:t>Processing Logic</a:t>
            </a:r>
          </a:p>
          <a:p>
            <a:pPr lvl="1"/>
            <a:r>
              <a:rPr lang="ja-JP" altLang="en-US"/>
              <a:t>処理フロー、アルゴリズム</a:t>
            </a:r>
          </a:p>
          <a:p>
            <a:pPr lvl="1"/>
            <a:r>
              <a:rPr lang="en-US" dirty="0"/>
              <a:t>Process flows, algorithms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AB377-DD30-C2B4-128C-18FC4DA558E0}"/>
              </a:ext>
            </a:extLst>
          </p:cNvPr>
          <p:cNvSpPr txBox="1"/>
          <p:nvPr/>
        </p:nvSpPr>
        <p:spPr>
          <a:xfrm>
            <a:off x="361648" y="3871525"/>
            <a:ext cx="84207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成果物の例 </a:t>
            </a:r>
            <a:r>
              <a:rPr lang="en-US" altLang="ja-JP" sz="2000" dirty="0"/>
              <a:t>/ </a:t>
            </a:r>
            <a:r>
              <a:rPr lang="en-US" sz="2000" dirty="0"/>
              <a:t>Typical Outputs</a:t>
            </a:r>
          </a:p>
          <a:p>
            <a:r>
              <a:rPr lang="en-US" sz="2000" dirty="0"/>
              <a:t>①</a:t>
            </a:r>
            <a:r>
              <a:rPr lang="ja-JP" altLang="en-US" sz="2000"/>
              <a:t>画面遷移図 </a:t>
            </a:r>
            <a:r>
              <a:rPr lang="en-US" altLang="ja-JP" sz="2000" dirty="0"/>
              <a:t>(</a:t>
            </a:r>
            <a:r>
              <a:rPr lang="en-US" sz="2000" dirty="0"/>
              <a:t>Screen flow)、 ② </a:t>
            </a:r>
            <a:r>
              <a:rPr lang="en-US" sz="200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Entity Relationship</a:t>
            </a:r>
            <a:r>
              <a:rPr lang="ja-JP" altLang="en-US" sz="2000"/>
              <a:t>図 </a:t>
            </a:r>
            <a:r>
              <a:rPr lang="en-US" altLang="ja-JP" sz="2000" dirty="0"/>
              <a:t>(</a:t>
            </a:r>
            <a:r>
              <a:rPr lang="en-US" sz="2000" dirty="0"/>
              <a:t>ER diagram)、</a:t>
            </a:r>
          </a:p>
          <a:p>
            <a:r>
              <a:rPr lang="en-US" sz="2000" dirty="0"/>
              <a:t>③ API</a:t>
            </a:r>
            <a:r>
              <a:rPr lang="ja-JP" altLang="en-US" sz="2000"/>
              <a:t>仕様 </a:t>
            </a:r>
            <a:r>
              <a:rPr lang="en-US" altLang="ja-JP" sz="2000" dirty="0"/>
              <a:t>(</a:t>
            </a:r>
            <a:r>
              <a:rPr lang="en-US" sz="2000" dirty="0"/>
              <a:t>API specification)、④ </a:t>
            </a:r>
            <a:r>
              <a:rPr lang="en-US" sz="2000" dirty="0" err="1"/>
              <a:t>擬似コード</a:t>
            </a:r>
            <a:r>
              <a:rPr lang="en-US" sz="2000" dirty="0"/>
              <a:t> (Pseudo Code)</a:t>
            </a:r>
            <a:r>
              <a:rPr lang="ja-JP" altLang="en-US" sz="2000"/>
              <a:t>、</a:t>
            </a:r>
            <a:r>
              <a:rPr lang="en-US" altLang="ja-JP" sz="2000" dirty="0"/>
              <a:t>⑤ </a:t>
            </a:r>
            <a:r>
              <a:rPr lang="ja-JP" altLang="en-US" sz="2000"/>
              <a:t>など</a:t>
            </a:r>
            <a:r>
              <a:rPr lang="en-US" altLang="ja-JP" sz="2000" dirty="0"/>
              <a:t> (etc.)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3288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2B1DCEA-DD72-D16F-24A2-575C7781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System Block Diagram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システムブロック図</a:t>
            </a:r>
            <a:r>
              <a:rPr lang="en-US" dirty="0"/>
              <a:t>)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200802-3E21-3838-CD59-3F599C030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2438400" cy="339447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Where in the system, who does what?</a:t>
            </a:r>
          </a:p>
          <a:p>
            <a:r>
              <a:rPr lang="en-US" dirty="0" err="1"/>
              <a:t>誰がシステムのどこで何をする</a:t>
            </a:r>
            <a:r>
              <a:rPr lang="en-US" dirty="0"/>
              <a:t>？</a:t>
            </a:r>
          </a:p>
          <a:p>
            <a:endParaRPr lang="en-US" dirty="0"/>
          </a:p>
          <a:p>
            <a:r>
              <a:rPr lang="en-US" dirty="0"/>
              <a:t>How does each module in a system interact with others?</a:t>
            </a:r>
          </a:p>
          <a:p>
            <a:r>
              <a:rPr lang="en-US" dirty="0" err="1"/>
              <a:t>どのモジュール同士がつながっている</a:t>
            </a:r>
            <a:r>
              <a:rPr lang="en-US" dirty="0"/>
              <a:t>？</a:t>
            </a:r>
          </a:p>
        </p:txBody>
      </p:sp>
      <p:pic>
        <p:nvPicPr>
          <p:cNvPr id="6" name="Google Shape;157;p30">
            <a:extLst>
              <a:ext uri="{FF2B5EF4-FFF2-40B4-BE49-F238E27FC236}">
                <a16:creationId xmlns:a16="http://schemas.microsoft.com/office/drawing/2014/main" id="{51CF85D6-EBE6-C994-7F42-1E8444875FBA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20526" y="1055200"/>
            <a:ext cx="5923474" cy="3953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717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3A5A8-0E8A-EEC5-367F-12DA220D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Flow Chart (</a:t>
            </a:r>
            <a:r>
              <a:rPr lang="en-US" dirty="0" err="1"/>
              <a:t>フローチャート</a:t>
            </a:r>
            <a:r>
              <a:rPr lang="en-US" dirty="0"/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D9967-4C83-7EA9-2E90-438AED54F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3646700" cy="3394472"/>
          </a:xfrm>
        </p:spPr>
        <p:txBody>
          <a:bodyPr/>
          <a:lstStyle/>
          <a:p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プログラムの手順や条件分岐を矢印付きの図で説明</a:t>
            </a:r>
            <a:endParaRPr lang="en-US" altLang="ja-JP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US" altLang="ja-JP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Describing the flow of the steps in a program as well as the conditions to proceed to a particular direction</a:t>
            </a:r>
          </a:p>
        </p:txBody>
      </p:sp>
      <p:pic>
        <p:nvPicPr>
          <p:cNvPr id="3" name="Google Shape;463;p61">
            <a:extLst>
              <a:ext uri="{FF2B5EF4-FFF2-40B4-BE49-F238E27FC236}">
                <a16:creationId xmlns:a16="http://schemas.microsoft.com/office/drawing/2014/main" id="{F66E66CC-A477-CA10-0F69-9AA1513F06E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46171" y="849086"/>
            <a:ext cx="3940629" cy="42459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9864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84BC-D39B-620E-1703-BB3DF9EF5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Code (</a:t>
            </a:r>
            <a:r>
              <a:rPr lang="en-US" dirty="0" err="1"/>
              <a:t>擬似コード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AC081-B429-2822-C6F5-9DA0899EF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2653434" cy="3394472"/>
          </a:xfrm>
        </p:spPr>
        <p:txBody>
          <a:bodyPr/>
          <a:lstStyle/>
          <a:p>
            <a:r>
              <a:rPr lang="ja-JP" altLang="en-US" b="0" i="0" u="none" strike="noStrike">
                <a:solidFill>
                  <a:srgbClr val="000000"/>
                </a:solidFill>
                <a:effectLst/>
                <a:latin typeface="-webkit-standard"/>
              </a:rPr>
              <a:t>プログラムの手順や条件分岐</a:t>
            </a:r>
            <a:r>
              <a:rPr lang="ja-JP" altLang="en-US">
                <a:solidFill>
                  <a:srgbClr val="000000"/>
                </a:solidFill>
                <a:latin typeface="-webkit-standard"/>
              </a:rPr>
              <a:t>をソースコードのように表示</a:t>
            </a:r>
            <a:endParaRPr lang="en-US" altLang="ja-JP" dirty="0">
              <a:solidFill>
                <a:srgbClr val="000000"/>
              </a:solidFill>
              <a:latin typeface="-webkit-standard"/>
            </a:endParaRPr>
          </a:p>
          <a:p>
            <a:r>
              <a:rPr lang="en-US" altLang="ja-JP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Describing an algorithm like a source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5F7588-F2E0-D00B-C9F6-B8BA51992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634" y="1244601"/>
            <a:ext cx="5576166" cy="335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976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5283-7A1C-2B7C-F6EC-A00EC82E0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Diagram (</a:t>
            </a:r>
            <a:r>
              <a:rPr lang="en-US" dirty="0" err="1"/>
              <a:t>時間遷移図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DBEDA-1E12-5098-250A-6CD0877A1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1502228" cy="3394472"/>
          </a:xfrm>
        </p:spPr>
        <p:txBody>
          <a:bodyPr>
            <a:normAutofit fontScale="92500" lnSpcReduction="20000"/>
          </a:bodyPr>
          <a:lstStyle/>
          <a:p>
            <a:r>
              <a:rPr lang="en-US" sz="1600" dirty="0" err="1"/>
              <a:t>いつ、誰が何をして、他の誰と通信する</a:t>
            </a:r>
            <a:r>
              <a:rPr lang="en-US" sz="1600" dirty="0"/>
              <a:t>？</a:t>
            </a:r>
          </a:p>
          <a:p>
            <a:r>
              <a:rPr lang="en-US" sz="1600" dirty="0"/>
              <a:t>When who does what to interact with whom?</a:t>
            </a:r>
          </a:p>
          <a:p>
            <a:endParaRPr lang="en-US" sz="1600" dirty="0"/>
          </a:p>
          <a:p>
            <a:r>
              <a:rPr lang="en-US" sz="1600" dirty="0" err="1"/>
              <a:t>メッセージ交換の順序などを図示</a:t>
            </a:r>
            <a:endParaRPr lang="en-US" sz="1600" dirty="0"/>
          </a:p>
          <a:p>
            <a:r>
              <a:rPr lang="en-US" sz="1600" dirty="0"/>
              <a:t>Describing message exchange order</a:t>
            </a:r>
          </a:p>
        </p:txBody>
      </p:sp>
      <p:pic>
        <p:nvPicPr>
          <p:cNvPr id="4" name="Google Shape;484;p63">
            <a:extLst>
              <a:ext uri="{FF2B5EF4-FFF2-40B4-BE49-F238E27FC236}">
                <a16:creationId xmlns:a16="http://schemas.microsoft.com/office/drawing/2014/main" id="{D4DC2C24-39C1-39B9-3ACD-1B408EC7F3F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59428" y="985662"/>
            <a:ext cx="7105649" cy="3823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5467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ADDB0-2EA1-88BD-C3F8-9EF38161F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UI Design / </a:t>
            </a:r>
            <a:r>
              <a:rPr lang="en-US" dirty="0" err="1"/>
              <a:t>ユーザーインターフェース設計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D7D052-7BEE-ACED-F5D3-32EFE15FBC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363686" y="1082673"/>
            <a:ext cx="5780314" cy="3887854"/>
          </a:xfr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09D191-B41C-5B6E-65C0-C11B2EB9A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3399" y="1245956"/>
            <a:ext cx="3069772" cy="3394472"/>
          </a:xfrm>
        </p:spPr>
        <p:txBody>
          <a:bodyPr/>
          <a:lstStyle/>
          <a:p>
            <a:r>
              <a:rPr lang="en-US" dirty="0" err="1"/>
              <a:t>ユーザ視点で見る、アプリの見た目や操作を決めること</a:t>
            </a:r>
            <a:endParaRPr lang="en-US" dirty="0"/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Designing the screens and controls that users see and operate.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F0E202-CE6D-1971-69FD-47F1A6177F09}"/>
              </a:ext>
            </a:extLst>
          </p:cNvPr>
          <p:cNvSpPr txBox="1"/>
          <p:nvPr/>
        </p:nvSpPr>
        <p:spPr>
          <a:xfrm>
            <a:off x="2358220" y="4774168"/>
            <a:ext cx="4427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Picture Source https://</a:t>
            </a:r>
            <a:r>
              <a:rPr lang="en-US" dirty="0" err="1"/>
              <a:t>www.figma.com</a:t>
            </a:r>
            <a:r>
              <a:rPr lang="en-US" dirty="0"/>
              <a:t>/ja-</a:t>
            </a:r>
            <a:r>
              <a:rPr lang="en-US" dirty="0" err="1"/>
              <a:t>jp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759324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1. </a:t>
            </a:r>
            <a:r>
              <a:rPr dirty="0" err="1"/>
              <a:t>システム概要</a:t>
            </a:r>
            <a:r>
              <a:rPr dirty="0"/>
              <a:t> /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dirty="0" err="1"/>
              <a:t>背景</a:t>
            </a:r>
            <a:r>
              <a:rPr lang="en-US" dirty="0" err="1"/>
              <a:t>と</a:t>
            </a:r>
            <a:r>
              <a:rPr dirty="0" err="1"/>
              <a:t>目的</a:t>
            </a:r>
            <a:endParaRPr dirty="0"/>
          </a:p>
          <a:p>
            <a:r>
              <a:rPr dirty="0" err="1"/>
              <a:t>解決したい課題</a:t>
            </a:r>
            <a:endParaRPr dirty="0"/>
          </a:p>
          <a:p>
            <a:r>
              <a:rPr dirty="0" err="1"/>
              <a:t>スコープ</a:t>
            </a:r>
            <a:br>
              <a:rPr lang="en-US" dirty="0"/>
            </a:br>
            <a:r>
              <a:rPr dirty="0"/>
              <a:t>（</a:t>
            </a:r>
            <a:r>
              <a:rPr dirty="0" err="1"/>
              <a:t>やること／やらないこと</a:t>
            </a:r>
            <a:r>
              <a:rPr dirty="0"/>
              <a:t>）</a:t>
            </a:r>
          </a:p>
          <a:p>
            <a:r>
              <a:rPr dirty="0" err="1"/>
              <a:t>想定ユーザ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1AB5B-464D-9469-B265-EA17A89BCC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Background &amp; Objectives</a:t>
            </a:r>
          </a:p>
          <a:p>
            <a:r>
              <a:rPr lang="en-US" dirty="0"/>
              <a:t>Problems to be solved</a:t>
            </a:r>
          </a:p>
          <a:p>
            <a:r>
              <a:rPr lang="en-US" dirty="0"/>
              <a:t>Scope (In/Out of scope)</a:t>
            </a:r>
          </a:p>
          <a:p>
            <a:r>
              <a:rPr lang="en-US" dirty="0"/>
              <a:t>Target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2. </a:t>
            </a:r>
            <a:r>
              <a:rPr dirty="0" err="1"/>
              <a:t>ステークホルダ</a:t>
            </a:r>
            <a:r>
              <a:rPr dirty="0"/>
              <a:t> /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dirty="0" err="1"/>
              <a:t>利用者</a:t>
            </a:r>
            <a:endParaRPr dirty="0"/>
          </a:p>
          <a:p>
            <a:r>
              <a:rPr dirty="0" err="1"/>
              <a:t>管理者</a:t>
            </a:r>
            <a:endParaRPr dirty="0"/>
          </a:p>
          <a:p>
            <a:r>
              <a:rPr dirty="0" err="1"/>
              <a:t>運用担当</a:t>
            </a:r>
            <a:endParaRPr dirty="0"/>
          </a:p>
          <a:p>
            <a:r>
              <a:rPr dirty="0" err="1"/>
              <a:t>外部連携先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B6C07-4254-9986-E731-978044B6140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End users</a:t>
            </a:r>
          </a:p>
          <a:p>
            <a:r>
              <a:rPr lang="en-US" dirty="0"/>
              <a:t>Administrators</a:t>
            </a:r>
          </a:p>
          <a:p>
            <a:r>
              <a:rPr lang="en-US" dirty="0"/>
              <a:t>Operations team</a:t>
            </a:r>
          </a:p>
          <a:p>
            <a:r>
              <a:rPr lang="en-US" dirty="0"/>
              <a:t>External partners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機能要件 / 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dirty="0" err="1"/>
              <a:t>システムが提供する機能</a:t>
            </a:r>
            <a:endParaRPr dirty="0"/>
          </a:p>
          <a:p>
            <a:r>
              <a:rPr dirty="0" err="1"/>
              <a:t>ユースケース</a:t>
            </a:r>
            <a:endParaRPr dirty="0"/>
          </a:p>
          <a:p>
            <a:r>
              <a:rPr dirty="0" err="1"/>
              <a:t>入力／出力</a:t>
            </a:r>
            <a:endParaRPr dirty="0"/>
          </a:p>
          <a:p>
            <a:r>
              <a:rPr dirty="0" err="1"/>
              <a:t>ビジネスロジック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CAAF0F-55BC-D268-659B-8DBC1681789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System functions</a:t>
            </a:r>
          </a:p>
          <a:p>
            <a:r>
              <a:rPr lang="en-US" dirty="0"/>
              <a:t>Use cases / Use scenarios</a:t>
            </a:r>
          </a:p>
          <a:p>
            <a:r>
              <a:rPr lang="en-US" dirty="0"/>
              <a:t>Inputs / Outputs</a:t>
            </a:r>
          </a:p>
          <a:p>
            <a:r>
              <a:rPr lang="en-US" dirty="0"/>
              <a:t>Business logic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非機能要件 / 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dirty="0" err="1"/>
              <a:t>性能（応答時間など</a:t>
            </a:r>
            <a:r>
              <a:rPr dirty="0"/>
              <a:t>）</a:t>
            </a:r>
          </a:p>
          <a:p>
            <a:r>
              <a:rPr dirty="0" err="1"/>
              <a:t>可用性</a:t>
            </a:r>
            <a:endParaRPr dirty="0"/>
          </a:p>
          <a:p>
            <a:r>
              <a:rPr dirty="0" err="1"/>
              <a:t>セキュリティ</a:t>
            </a:r>
            <a:endParaRPr dirty="0"/>
          </a:p>
          <a:p>
            <a:r>
              <a:rPr dirty="0" err="1"/>
              <a:t>保守性・拡張性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4B954-92FB-B124-81D1-3DAF6DF9B2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Performance</a:t>
            </a:r>
            <a:br>
              <a:rPr lang="en-US" dirty="0"/>
            </a:br>
            <a:r>
              <a:rPr lang="en-US" dirty="0"/>
              <a:t>(response time, etc.)</a:t>
            </a:r>
          </a:p>
          <a:p>
            <a:r>
              <a:rPr lang="en-US" dirty="0"/>
              <a:t>Availability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Maintainability &amp; Scalability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データ要件 / Data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dirty="0" err="1"/>
              <a:t>データ項目定義</a:t>
            </a:r>
            <a:endParaRPr dirty="0"/>
          </a:p>
          <a:p>
            <a:r>
              <a:rPr dirty="0" err="1"/>
              <a:t>データ型</a:t>
            </a:r>
            <a:endParaRPr dirty="0"/>
          </a:p>
          <a:p>
            <a:r>
              <a:rPr dirty="0" err="1"/>
              <a:t>保存方式</a:t>
            </a:r>
            <a:endParaRPr dirty="0"/>
          </a:p>
          <a:p>
            <a:r>
              <a:rPr dirty="0" err="1"/>
              <a:t>保持期間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E8D8E3-4EA3-216E-E06E-E7ABE48EF7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definitions</a:t>
            </a:r>
          </a:p>
          <a:p>
            <a:r>
              <a:rPr lang="en-US" dirty="0"/>
              <a:t>Data types</a:t>
            </a:r>
          </a:p>
          <a:p>
            <a:r>
              <a:rPr lang="en-US" dirty="0"/>
              <a:t>Storage method</a:t>
            </a:r>
          </a:p>
          <a:p>
            <a:r>
              <a:rPr lang="en-US" dirty="0"/>
              <a:t>Retention period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6. 外部インターフェース / External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dirty="0" err="1"/>
              <a:t>API仕様</a:t>
            </a:r>
            <a:endParaRPr dirty="0"/>
          </a:p>
          <a:p>
            <a:r>
              <a:rPr dirty="0" err="1"/>
              <a:t>外部システム連携</a:t>
            </a:r>
            <a:endParaRPr dirty="0"/>
          </a:p>
          <a:p>
            <a:r>
              <a:rPr dirty="0" err="1"/>
              <a:t>通信プロトコル</a:t>
            </a:r>
            <a:endParaRPr dirty="0"/>
          </a:p>
          <a:p>
            <a:r>
              <a:rPr dirty="0" err="1"/>
              <a:t>ハードウェア連携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683141-5AD2-27B6-EDD2-949132E1A3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API specifications</a:t>
            </a:r>
          </a:p>
          <a:p>
            <a:r>
              <a:rPr lang="en-US" dirty="0"/>
              <a:t>External system integration</a:t>
            </a:r>
          </a:p>
          <a:p>
            <a:r>
              <a:rPr lang="en-US" dirty="0"/>
              <a:t>Communication protocols</a:t>
            </a:r>
          </a:p>
          <a:p>
            <a:r>
              <a:rPr lang="en-US" dirty="0"/>
              <a:t>Hardware interfaces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制約条件 /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dirty="0" err="1"/>
              <a:t>技術制約</a:t>
            </a:r>
            <a:endParaRPr dirty="0"/>
          </a:p>
          <a:p>
            <a:r>
              <a:rPr dirty="0" err="1"/>
              <a:t>法規制</a:t>
            </a:r>
            <a:endParaRPr dirty="0"/>
          </a:p>
          <a:p>
            <a:r>
              <a:rPr dirty="0" err="1"/>
              <a:t>予算</a:t>
            </a:r>
            <a:endParaRPr dirty="0"/>
          </a:p>
          <a:p>
            <a:r>
              <a:rPr dirty="0" err="1"/>
              <a:t>開発期間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F5476C-3262-8DEB-93DC-B27A1D78192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Technical constraints</a:t>
            </a:r>
          </a:p>
          <a:p>
            <a:r>
              <a:rPr lang="en-US" dirty="0"/>
              <a:t>Legal/regulatory constraints</a:t>
            </a:r>
          </a:p>
          <a:p>
            <a:r>
              <a:rPr lang="en-US" dirty="0"/>
              <a:t>Budget</a:t>
            </a:r>
          </a:p>
          <a:p>
            <a:r>
              <a:rPr lang="en-US" dirty="0"/>
              <a:t>Schedule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8. 前提条件・依存関係 / Assumptions &amp;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dirty="0" err="1"/>
              <a:t>外部システム前提</a:t>
            </a:r>
            <a:endParaRPr dirty="0"/>
          </a:p>
          <a:p>
            <a:r>
              <a:rPr dirty="0" err="1"/>
              <a:t>利用環境前提</a:t>
            </a:r>
            <a:endParaRPr dirty="0"/>
          </a:p>
          <a:p>
            <a:r>
              <a:rPr dirty="0" err="1"/>
              <a:t>人的リソース前提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4AA7C-674F-BD1F-B638-A18526B96C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External system assumptions</a:t>
            </a:r>
          </a:p>
          <a:p>
            <a:r>
              <a:rPr lang="en-US" dirty="0"/>
              <a:t>Environment assumptions</a:t>
            </a:r>
          </a:p>
          <a:p>
            <a:r>
              <a:rPr lang="en-US" dirty="0"/>
              <a:t>Resource dependencies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受入基準 / Acceptance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dirty="0" err="1"/>
              <a:t>完成の定義</a:t>
            </a:r>
            <a:endParaRPr dirty="0"/>
          </a:p>
          <a:p>
            <a:r>
              <a:rPr dirty="0" err="1"/>
              <a:t>テスト基準</a:t>
            </a:r>
            <a:endParaRPr dirty="0"/>
          </a:p>
          <a:p>
            <a:r>
              <a:rPr dirty="0" err="1"/>
              <a:t>合格条件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A83839-AA8F-FE86-A5A9-373F484533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Definition of Done</a:t>
            </a:r>
          </a:p>
          <a:p>
            <a:r>
              <a:rPr lang="en-US" dirty="0"/>
              <a:t>Test criteria</a:t>
            </a:r>
          </a:p>
          <a:p>
            <a:r>
              <a:rPr lang="en-US" dirty="0"/>
              <a:t>Acceptance conditions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トレーサビリティ / Traceability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dirty="0" err="1"/>
              <a:t>要件</a:t>
            </a:r>
            <a:r>
              <a:rPr lang="en-US" dirty="0" err="1"/>
              <a:t>ID</a:t>
            </a:r>
            <a:r>
              <a:rPr dirty="0" err="1"/>
              <a:t>管理</a:t>
            </a:r>
            <a:endParaRPr dirty="0"/>
          </a:p>
          <a:p>
            <a:r>
              <a:rPr dirty="0" err="1"/>
              <a:t>設計との紐付け</a:t>
            </a:r>
            <a:endParaRPr dirty="0"/>
          </a:p>
          <a:p>
            <a:r>
              <a:rPr dirty="0" err="1"/>
              <a:t>テストケースとの対応</a:t>
            </a:r>
            <a:endParaRPr dirty="0"/>
          </a:p>
          <a:p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76909-B4ED-7E18-2A36-EE954C3D8A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Requirement ID management</a:t>
            </a:r>
          </a:p>
          <a:p>
            <a:r>
              <a:rPr lang="en-US" dirty="0"/>
              <a:t>Mapping to design</a:t>
            </a:r>
          </a:p>
          <a:p>
            <a:r>
              <a:rPr lang="en-US" dirty="0"/>
              <a:t>Mapping to test cases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B7CEE38-31E7-C29F-3414-26B9BF559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 Standards / </a:t>
            </a:r>
            <a:r>
              <a:rPr lang="en-US" dirty="0" err="1"/>
              <a:t>参照した国際標準・規格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CE88D9E-7F03-2830-97D4-1DA1EA5EABC5}"/>
              </a:ext>
            </a:extLst>
          </p:cNvPr>
          <p:cNvSpPr/>
          <p:nvPr/>
        </p:nvSpPr>
        <p:spPr>
          <a:xfrm>
            <a:off x="303196" y="1068040"/>
            <a:ext cx="4981074" cy="1532021"/>
          </a:xfrm>
          <a:prstGeom prst="roundRect">
            <a:avLst/>
          </a:prstGeom>
          <a:solidFill>
            <a:srgbClr val="C8D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chemeClr val="tx1"/>
                </a:solidFill>
              </a:rPr>
              <a:t>① Define </a:t>
            </a:r>
            <a:r>
              <a:rPr b="1" dirty="0" err="1">
                <a:solidFill>
                  <a:schemeClr val="tx1"/>
                </a:solidFill>
              </a:rPr>
              <a:t>Quality（定義する品質</a:t>
            </a:r>
            <a:r>
              <a:rPr b="1" dirty="0">
                <a:solidFill>
                  <a:schemeClr val="tx1"/>
                </a:solidFill>
              </a:rPr>
              <a:t>）</a:t>
            </a:r>
          </a:p>
          <a:p>
            <a:r>
              <a:rPr b="1" dirty="0">
                <a:solidFill>
                  <a:schemeClr val="tx1"/>
                </a:solidFill>
              </a:rPr>
              <a:t>ISO/IEC/IEEE 29148 – Requirements Engineering</a:t>
            </a:r>
          </a:p>
          <a:p>
            <a:r>
              <a:rPr dirty="0">
                <a:solidFill>
                  <a:schemeClr val="tx1"/>
                </a:solidFill>
              </a:rPr>
              <a:t>• What to build / </a:t>
            </a:r>
            <a:r>
              <a:rPr dirty="0" err="1">
                <a:solidFill>
                  <a:schemeClr val="tx1"/>
                </a:solidFill>
              </a:rPr>
              <a:t>何を作るか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• SRS structure / </a:t>
            </a:r>
            <a:r>
              <a:rPr dirty="0" err="1">
                <a:solidFill>
                  <a:schemeClr val="tx1"/>
                </a:solidFill>
              </a:rPr>
              <a:t>要求構造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• Traceability / </a:t>
            </a:r>
            <a:r>
              <a:rPr dirty="0" err="1">
                <a:solidFill>
                  <a:schemeClr val="tx1"/>
                </a:solidFill>
              </a:rPr>
              <a:t>トレーサビリティ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6C176A4-0673-100E-265B-1091AB59CE56}"/>
              </a:ext>
            </a:extLst>
          </p:cNvPr>
          <p:cNvSpPr/>
          <p:nvPr/>
        </p:nvSpPr>
        <p:spPr>
          <a:xfrm>
            <a:off x="4379495" y="1907768"/>
            <a:ext cx="4764504" cy="1838425"/>
          </a:xfrm>
          <a:prstGeom prst="roundRect">
            <a:avLst/>
          </a:prstGeom>
          <a:solidFill>
            <a:srgbClr val="C8FF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chemeClr val="tx1"/>
                </a:solidFill>
              </a:rPr>
              <a:t>② Build </a:t>
            </a:r>
            <a:r>
              <a:rPr b="1" dirty="0" err="1">
                <a:solidFill>
                  <a:schemeClr val="tx1"/>
                </a:solidFill>
              </a:rPr>
              <a:t>Quality（作る品質</a:t>
            </a:r>
            <a:r>
              <a:rPr b="1" dirty="0">
                <a:solidFill>
                  <a:schemeClr val="tx1"/>
                </a:solidFill>
              </a:rPr>
              <a:t>）</a:t>
            </a:r>
          </a:p>
          <a:p>
            <a:r>
              <a:rPr b="1" dirty="0">
                <a:solidFill>
                  <a:schemeClr val="tx1"/>
                </a:solidFill>
              </a:rPr>
              <a:t>ISO/IEC 25010:2011 – Product Quality Model</a:t>
            </a:r>
          </a:p>
          <a:p>
            <a:r>
              <a:rPr lang="en-US" dirty="0">
                <a:solidFill>
                  <a:schemeClr val="tx1"/>
                </a:solidFill>
              </a:rPr>
              <a:t>		</a:t>
            </a:r>
            <a:r>
              <a:rPr dirty="0">
                <a:solidFill>
                  <a:schemeClr val="tx1"/>
                </a:solidFill>
              </a:rPr>
              <a:t>• Functional Suitability</a:t>
            </a:r>
          </a:p>
          <a:p>
            <a:r>
              <a:rPr lang="en-US" dirty="0">
                <a:solidFill>
                  <a:schemeClr val="tx1"/>
                </a:solidFill>
              </a:rPr>
              <a:t>		</a:t>
            </a:r>
            <a:r>
              <a:rPr dirty="0">
                <a:solidFill>
                  <a:schemeClr val="tx1"/>
                </a:solidFill>
              </a:rPr>
              <a:t>• Performance, Reliability, Security</a:t>
            </a:r>
          </a:p>
          <a:p>
            <a:r>
              <a:rPr lang="en-US" dirty="0">
                <a:solidFill>
                  <a:schemeClr val="tx1"/>
                </a:solidFill>
              </a:rPr>
              <a:t>		</a:t>
            </a:r>
            <a:r>
              <a:rPr dirty="0">
                <a:solidFill>
                  <a:schemeClr val="tx1"/>
                </a:solidFill>
              </a:rPr>
              <a:t>• Maintainability, Portability etc.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18902F-5AB8-E7EA-E57F-6D50AD758A48}"/>
              </a:ext>
            </a:extLst>
          </p:cNvPr>
          <p:cNvSpPr/>
          <p:nvPr/>
        </p:nvSpPr>
        <p:spPr>
          <a:xfrm>
            <a:off x="303195" y="2934139"/>
            <a:ext cx="4981073" cy="1838425"/>
          </a:xfrm>
          <a:prstGeom prst="roundRect">
            <a:avLst/>
          </a:prstGeom>
          <a:solidFill>
            <a:srgbClr val="FFE6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chemeClr val="tx1"/>
                </a:solidFill>
              </a:rPr>
              <a:t>③ Use </a:t>
            </a:r>
            <a:r>
              <a:rPr b="1" dirty="0" err="1">
                <a:solidFill>
                  <a:schemeClr val="tx1"/>
                </a:solidFill>
              </a:rPr>
              <a:t>Quality（使う品質</a:t>
            </a:r>
            <a:r>
              <a:rPr b="1" dirty="0">
                <a:solidFill>
                  <a:schemeClr val="tx1"/>
                </a:solidFill>
              </a:rPr>
              <a:t>）</a:t>
            </a:r>
          </a:p>
          <a:p>
            <a:r>
              <a:rPr b="1" dirty="0">
                <a:solidFill>
                  <a:schemeClr val="tx1"/>
                </a:solidFill>
              </a:rPr>
              <a:t>ISO/IEC 25019:2023 – Quality in Use</a:t>
            </a:r>
          </a:p>
          <a:p>
            <a:r>
              <a:rPr dirty="0">
                <a:solidFill>
                  <a:schemeClr val="tx1"/>
                </a:solidFill>
              </a:rPr>
              <a:t>• Effectiveness &amp; Efficiency</a:t>
            </a:r>
          </a:p>
          <a:p>
            <a:r>
              <a:rPr dirty="0">
                <a:solidFill>
                  <a:schemeClr val="tx1"/>
                </a:solidFill>
              </a:rPr>
              <a:t>• Satisfaction</a:t>
            </a:r>
          </a:p>
          <a:p>
            <a:r>
              <a:rPr dirty="0">
                <a:solidFill>
                  <a:schemeClr val="tx1"/>
                </a:solidFill>
              </a:rPr>
              <a:t>• Freedom from Risk &amp; Context Coverage</a:t>
            </a:r>
          </a:p>
        </p:txBody>
      </p:sp>
    </p:spTree>
    <p:extLst>
      <p:ext uri="{BB962C8B-B14F-4D97-AF65-F5344CB8AC3E}">
        <p14:creationId xmlns:p14="http://schemas.microsoft.com/office/powerpoint/2010/main" val="4166003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F0B1ADF-7A1E-C76A-50AF-AD9BF06A6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ISO/IEC/IEEE 29148 Requirements Structure (1/4)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F2FF71C-8432-A8F0-CBDC-6A02D8065D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/>
              <a:t>Business Requirements（</a:t>
            </a:r>
            <a:r>
              <a:rPr lang="ja-JP" altLang="en-US" b="1"/>
              <a:t>ビジネス要求）</a:t>
            </a:r>
          </a:p>
          <a:p>
            <a:r>
              <a:rPr lang="ja-JP" altLang="en-US"/>
              <a:t>組織の目標や戦略的目的を表す高位要求。</a:t>
            </a:r>
          </a:p>
          <a:p>
            <a:r>
              <a:rPr lang="en-US" dirty="0"/>
              <a:t>High-level objectives describing organizational goals.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Stakeholder Requirements</a:t>
            </a:r>
            <a:br>
              <a:rPr lang="en-US" b="1" dirty="0"/>
            </a:br>
            <a:r>
              <a:rPr lang="en-US" b="1" dirty="0"/>
              <a:t>（</a:t>
            </a:r>
            <a:r>
              <a:rPr lang="ja-JP" altLang="en-US" b="1"/>
              <a:t>ステークホルダー要求）</a:t>
            </a:r>
          </a:p>
          <a:p>
            <a:r>
              <a:rPr lang="ja-JP" altLang="en-US"/>
              <a:t>利害関係者のニーズや期待を定義する要求。</a:t>
            </a:r>
          </a:p>
          <a:p>
            <a:r>
              <a:rPr lang="en-US" dirty="0"/>
              <a:t>Needs and expectations of stakeholders.</a:t>
            </a:r>
          </a:p>
          <a:p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9567600-F33A-AB7C-01F7-DF166CCF40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System Requirements（</a:t>
            </a:r>
            <a:r>
              <a:rPr lang="ja-JP" altLang="en-US" b="1"/>
              <a:t>システム要求）</a:t>
            </a:r>
          </a:p>
          <a:p>
            <a:r>
              <a:rPr lang="ja-JP" altLang="en-US"/>
              <a:t>ステークホルダー要求を実現するための技術的要求。</a:t>
            </a:r>
          </a:p>
          <a:p>
            <a:r>
              <a:rPr lang="en-US" dirty="0"/>
              <a:t>Technical requirements that realize stakeholder needs.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Software Requirements</a:t>
            </a:r>
            <a:br>
              <a:rPr lang="en-US" b="1" dirty="0"/>
            </a:br>
            <a:r>
              <a:rPr lang="en-US" b="1" dirty="0"/>
              <a:t>（</a:t>
            </a:r>
            <a:r>
              <a:rPr lang="ja-JP" altLang="en-US" b="1"/>
              <a:t>ソフトウェア要求）</a:t>
            </a:r>
          </a:p>
          <a:p>
            <a:r>
              <a:rPr lang="ja-JP" altLang="en-US"/>
              <a:t>システム要求のうちソフトウェア部分に関する要求。</a:t>
            </a:r>
          </a:p>
          <a:p>
            <a:r>
              <a:rPr lang="en-US" dirty="0"/>
              <a:t>Requirements allocated to the software portion of the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002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99ADC8-6281-6B97-339A-15E4750C8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ISO/IEC/IEEE 29148 Requirement Types (2/4)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81E86F-7A9B-D4C2-DBFE-FF93D334BC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Functional Requirements（</a:t>
            </a:r>
            <a:r>
              <a:rPr lang="ja-JP" altLang="en-US" b="1"/>
              <a:t>機能要件）</a:t>
            </a:r>
          </a:p>
          <a:p>
            <a:r>
              <a:rPr lang="ja-JP" altLang="en-US"/>
              <a:t>システムが実行すべき機能や振る舞い。</a:t>
            </a:r>
          </a:p>
          <a:p>
            <a:r>
              <a:rPr lang="en-US" dirty="0"/>
              <a:t>Functions or behaviors the system shall perform.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Performance Requirements</a:t>
            </a:r>
            <a:br>
              <a:rPr lang="en-US" b="1" dirty="0"/>
            </a:br>
            <a:r>
              <a:rPr lang="en-US" b="1" dirty="0"/>
              <a:t>（</a:t>
            </a:r>
            <a:r>
              <a:rPr lang="ja-JP" altLang="en-US" b="1"/>
              <a:t>性能要件）</a:t>
            </a:r>
          </a:p>
          <a:p>
            <a:r>
              <a:rPr lang="ja-JP" altLang="en-US"/>
              <a:t>応答時間、容量、スループットなどの性能条件。</a:t>
            </a:r>
          </a:p>
          <a:p>
            <a:r>
              <a:rPr lang="en-US" dirty="0"/>
              <a:t>Time behavior, capacity, and throughput constraints.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84EE2E0-85C3-7CB1-41CB-D56CCF349E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Interface Requirements</a:t>
            </a:r>
            <a:br>
              <a:rPr lang="en-US" b="1" dirty="0"/>
            </a:br>
            <a:r>
              <a:rPr lang="en-US" b="1" dirty="0"/>
              <a:t>（</a:t>
            </a:r>
            <a:r>
              <a:rPr lang="ja-JP" altLang="en-US" b="1"/>
              <a:t>インターフェース要件）</a:t>
            </a:r>
          </a:p>
          <a:p>
            <a:r>
              <a:rPr lang="en-US" dirty="0"/>
              <a:t>UI、</a:t>
            </a:r>
            <a:r>
              <a:rPr lang="ja-JP" altLang="en-US"/>
              <a:t>ハードウェア、ソフトウェア、通信に関する要求。</a:t>
            </a:r>
          </a:p>
          <a:p>
            <a:r>
              <a:rPr lang="en-US" dirty="0"/>
              <a:t>Requirements for user, hardware, software, and communication interfaces.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Data Requirements（</a:t>
            </a:r>
            <a:r>
              <a:rPr lang="ja-JP" altLang="en-US" b="1"/>
              <a:t>データ要件）</a:t>
            </a:r>
          </a:p>
          <a:p>
            <a:r>
              <a:rPr lang="ja-JP" altLang="en-US"/>
              <a:t>データ構造、保持、整合性に関する要求。</a:t>
            </a:r>
          </a:p>
          <a:p>
            <a:r>
              <a:rPr lang="en-US" dirty="0"/>
              <a:t>Requirements for data structure, retention, and integrity.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721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2F174-EA8B-F6A4-3A37-AD046D8C5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ISO/IEC/IEEE 29148 Constraints &amp; Verification (3/4)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8DA2F-0C44-43A0-443E-DA3EAA2BA9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Design Constraints（</a:t>
            </a:r>
            <a:r>
              <a:rPr lang="ja-JP" altLang="en-US" b="1"/>
              <a:t>設計制約）</a:t>
            </a:r>
          </a:p>
          <a:p>
            <a:r>
              <a:rPr lang="ja-JP" altLang="en-US"/>
              <a:t>技術的・法的・標準準拠などの制約条件。</a:t>
            </a:r>
          </a:p>
          <a:p>
            <a:r>
              <a:rPr lang="en-US" dirty="0"/>
              <a:t>Technical, regulatory, or standards-related constraints.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Assumptions &amp; Dependencies</a:t>
            </a:r>
            <a:br>
              <a:rPr lang="en-US" b="1" dirty="0"/>
            </a:br>
            <a:r>
              <a:rPr lang="en-US" b="1" dirty="0"/>
              <a:t>（</a:t>
            </a:r>
            <a:r>
              <a:rPr lang="ja-JP" altLang="en-US" b="1"/>
              <a:t>前提条件・依存関係）</a:t>
            </a:r>
          </a:p>
          <a:p>
            <a:r>
              <a:rPr lang="ja-JP" altLang="en-US"/>
              <a:t>外部環境や他システムへの依存。</a:t>
            </a:r>
          </a:p>
          <a:p>
            <a:r>
              <a:rPr lang="en-US" dirty="0"/>
              <a:t>Assumptions and external dependencies.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DBD60-DD1F-17F8-6101-BEED08070A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Verification Requirements</a:t>
            </a:r>
            <a:br>
              <a:rPr lang="en-US" b="1" dirty="0"/>
            </a:br>
            <a:r>
              <a:rPr lang="en-US" b="1" dirty="0"/>
              <a:t>（</a:t>
            </a:r>
            <a:r>
              <a:rPr lang="ja-JP" altLang="en-US" b="1"/>
              <a:t>検証要求）</a:t>
            </a:r>
          </a:p>
          <a:p>
            <a:r>
              <a:rPr lang="ja-JP" altLang="en-US"/>
              <a:t>要求をどのように検証するかを定義。</a:t>
            </a:r>
          </a:p>
          <a:p>
            <a:r>
              <a:rPr lang="en-US" dirty="0"/>
              <a:t>Definition of how requirements will be verified.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Acceptance Criteria（</a:t>
            </a:r>
            <a:r>
              <a:rPr lang="ja-JP" altLang="en-US" b="1"/>
              <a:t>受入基準）</a:t>
            </a:r>
          </a:p>
          <a:p>
            <a:r>
              <a:rPr lang="ja-JP" altLang="en-US"/>
              <a:t>完成判定のための基準。</a:t>
            </a:r>
          </a:p>
          <a:p>
            <a:r>
              <a:rPr lang="en-US" dirty="0"/>
              <a:t>Conditions for final acceptance.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244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E2130-A582-465D-EA56-58AAF96F3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ISO/IEC/IEEE 29148 Requirement Quality Characteristics (4/4)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3DA06-2E53-8BBB-FB4E-BD2B0BC4C1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Requirement Quality Attributes</a:t>
            </a:r>
            <a:br>
              <a:rPr lang="en-US" b="1" dirty="0"/>
            </a:br>
            <a:r>
              <a:rPr lang="en-US" b="1" dirty="0"/>
              <a:t>（</a:t>
            </a:r>
            <a:r>
              <a:rPr lang="ja-JP" altLang="en-US" b="1"/>
              <a:t>要求品質特性）</a:t>
            </a:r>
          </a:p>
          <a:p>
            <a:r>
              <a:rPr lang="ja-JP" altLang="en-US"/>
              <a:t>要求自体が満たすべき品質特性。</a:t>
            </a:r>
          </a:p>
          <a:p>
            <a:r>
              <a:rPr lang="en-US" dirty="0"/>
              <a:t>Quality attributes each requirement should satisfy.</a:t>
            </a:r>
          </a:p>
          <a:p>
            <a:endParaRPr lang="en-US" dirty="0"/>
          </a:p>
          <a:p>
            <a:pPr marL="0" indent="0">
              <a:buNone/>
            </a:pPr>
            <a:r>
              <a:rPr lang="ja-JP" altLang="en-US" b="1"/>
              <a:t>主な特性（</a:t>
            </a:r>
            <a:r>
              <a:rPr lang="en-US" b="1" dirty="0"/>
              <a:t>Key attributes）</a:t>
            </a:r>
          </a:p>
          <a:p>
            <a:r>
              <a:rPr lang="en-US" dirty="0"/>
              <a:t>Correct（</a:t>
            </a:r>
            <a:r>
              <a:rPr lang="ja-JP" altLang="en-US"/>
              <a:t>正確）</a:t>
            </a:r>
          </a:p>
          <a:p>
            <a:r>
              <a:rPr lang="en-US" dirty="0"/>
              <a:t>Unambiguous（</a:t>
            </a:r>
            <a:r>
              <a:rPr lang="ja-JP" altLang="en-US"/>
              <a:t>曖昧でない）</a:t>
            </a:r>
          </a:p>
          <a:p>
            <a:r>
              <a:rPr lang="en-US" dirty="0"/>
              <a:t>Complete（</a:t>
            </a:r>
            <a:r>
              <a:rPr lang="ja-JP" altLang="en-US"/>
              <a:t>完全）</a:t>
            </a:r>
          </a:p>
          <a:p>
            <a:r>
              <a:rPr lang="en-US" dirty="0"/>
              <a:t>Consistent（</a:t>
            </a:r>
            <a:r>
              <a:rPr lang="ja-JP" altLang="en-US"/>
              <a:t>一貫性）</a:t>
            </a:r>
          </a:p>
          <a:p>
            <a:r>
              <a:rPr lang="en-US" dirty="0"/>
              <a:t>Verifiable（</a:t>
            </a:r>
            <a:r>
              <a:rPr lang="ja-JP" altLang="en-US"/>
              <a:t>検証可能）</a:t>
            </a:r>
          </a:p>
          <a:p>
            <a:r>
              <a:rPr lang="en-US" dirty="0"/>
              <a:t>Feasible（</a:t>
            </a:r>
            <a:r>
              <a:rPr lang="ja-JP" altLang="en-US"/>
              <a:t>実現可能）</a:t>
            </a:r>
          </a:p>
          <a:p>
            <a:r>
              <a:rPr lang="en-US" dirty="0"/>
              <a:t>Traceable（</a:t>
            </a:r>
            <a:r>
              <a:rPr lang="ja-JP" altLang="en-US"/>
              <a:t>追跡可能）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9476A-E938-75DE-684C-809494DA14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Traceability（</a:t>
            </a:r>
            <a:r>
              <a:rPr lang="ja-JP" altLang="en-US" b="1"/>
              <a:t>トレーサビリティ）</a:t>
            </a:r>
          </a:p>
          <a:p>
            <a:r>
              <a:rPr lang="ja-JP" altLang="en-US"/>
              <a:t>要求間および設計・試験との対応関係。</a:t>
            </a:r>
          </a:p>
          <a:p>
            <a:r>
              <a:rPr lang="en-US" dirty="0"/>
              <a:t>Ability to trace requirements to design and test artifacts.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SRS </a:t>
            </a:r>
            <a:r>
              <a:rPr lang="en-US" b="1" dirty="0" err="1"/>
              <a:t>Structure（SRS</a:t>
            </a:r>
            <a:r>
              <a:rPr lang="ja-JP" altLang="en-US" b="1"/>
              <a:t>構造）</a:t>
            </a:r>
          </a:p>
          <a:p>
            <a:r>
              <a:rPr lang="en-US" dirty="0"/>
              <a:t>Software Requirements Specification </a:t>
            </a:r>
            <a:r>
              <a:rPr lang="ja-JP" altLang="en-US"/>
              <a:t>の章構成。</a:t>
            </a:r>
          </a:p>
          <a:p>
            <a:r>
              <a:rPr lang="en-US" dirty="0"/>
              <a:t>Standard structure of the Software Requirements Specification (SRS).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078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2FA1F-BE57-AFBC-03BD-35839F51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ISO/IEC 25010 Quality Model (1/4)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07524-9BCC-D0B6-5126-135739830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Functional Suitability（</a:t>
            </a:r>
            <a:r>
              <a:rPr lang="ja-JP" altLang="en-US"/>
              <a:t>機能適合性）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75D1F-17BF-97B4-3760-90BC7E272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3306366"/>
          </a:xfrm>
        </p:spPr>
        <p:txBody>
          <a:bodyPr>
            <a:normAutofit/>
          </a:bodyPr>
          <a:lstStyle/>
          <a:p>
            <a:r>
              <a:rPr lang="ja-JP" altLang="en-US"/>
              <a:t>要求された機能が正確かつ完全に満たされる度合い。</a:t>
            </a:r>
          </a:p>
          <a:p>
            <a:r>
              <a:rPr lang="en-US" dirty="0"/>
              <a:t>Degree to which functions meet stated and implied needs.</a:t>
            </a:r>
          </a:p>
          <a:p>
            <a:pPr lvl="1"/>
            <a:endParaRPr lang="en-US" dirty="0"/>
          </a:p>
          <a:p>
            <a:r>
              <a:rPr lang="en-US" dirty="0"/>
              <a:t>Functional completeness</a:t>
            </a:r>
            <a:br>
              <a:rPr lang="en-US" dirty="0"/>
            </a:br>
            <a:r>
              <a:rPr lang="en-US" dirty="0"/>
              <a:t>（</a:t>
            </a:r>
            <a:r>
              <a:rPr lang="ja-JP" altLang="en-US"/>
              <a:t>機能完全性）</a:t>
            </a:r>
          </a:p>
          <a:p>
            <a:r>
              <a:rPr lang="en-US" dirty="0"/>
              <a:t>Functional correctness（</a:t>
            </a:r>
            <a:r>
              <a:rPr lang="ja-JP" altLang="en-US"/>
              <a:t>機能正確性）</a:t>
            </a:r>
          </a:p>
          <a:p>
            <a:r>
              <a:rPr lang="en-US" dirty="0"/>
              <a:t>Functional appropriateness</a:t>
            </a:r>
            <a:br>
              <a:rPr lang="en-US" dirty="0"/>
            </a:br>
            <a:r>
              <a:rPr lang="en-US" dirty="0"/>
              <a:t>（</a:t>
            </a:r>
            <a:r>
              <a:rPr lang="ja-JP" altLang="en-US"/>
              <a:t>機能妥当性）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FD3533-9FA3-0F4D-40D6-45AACFC4AB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Performance Efficiency（</a:t>
            </a:r>
            <a:r>
              <a:rPr lang="ja-JP" altLang="en-US"/>
              <a:t>性能効率）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CC02B4-3981-B884-DB78-3307DF46F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3306366"/>
          </a:xfrm>
        </p:spPr>
        <p:txBody>
          <a:bodyPr>
            <a:normAutofit/>
          </a:bodyPr>
          <a:lstStyle/>
          <a:p>
            <a:r>
              <a:rPr lang="ja-JP" altLang="en-US"/>
              <a:t>資源使用量に対して適切な性能を発揮する度合い。</a:t>
            </a:r>
          </a:p>
          <a:p>
            <a:r>
              <a:rPr lang="en-US" dirty="0"/>
              <a:t>Performance relative to resource usage under stated conditions.</a:t>
            </a:r>
          </a:p>
          <a:p>
            <a:endParaRPr lang="en-US" dirty="0"/>
          </a:p>
          <a:p>
            <a:r>
              <a:rPr lang="en-US" dirty="0"/>
              <a:t>Time </a:t>
            </a:r>
            <a:r>
              <a:rPr lang="en-US" dirty="0" err="1"/>
              <a:t>behaviour</a:t>
            </a:r>
            <a:r>
              <a:rPr lang="en-US" dirty="0"/>
              <a:t>（</a:t>
            </a:r>
            <a:r>
              <a:rPr lang="ja-JP" altLang="en-US"/>
              <a:t>時間特性）</a:t>
            </a:r>
          </a:p>
          <a:p>
            <a:r>
              <a:rPr lang="en-US" dirty="0"/>
              <a:t>Resource utilization（</a:t>
            </a:r>
            <a:r>
              <a:rPr lang="ja-JP" altLang="en-US"/>
              <a:t>資源利用効率）</a:t>
            </a:r>
          </a:p>
          <a:p>
            <a:r>
              <a:rPr lang="en-US" dirty="0"/>
              <a:t>Capacity（</a:t>
            </a:r>
            <a:r>
              <a:rPr lang="ja-JP" altLang="en-US"/>
              <a:t>容量特性）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48851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42224-2E97-9A1E-02BF-6C561422C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ISO/IEC 25010 Quality Model (2/4)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F956F-06DA-AE53-8F2F-CFB9F5351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Compatibility（</a:t>
            </a:r>
            <a:r>
              <a:rPr lang="ja-JP" altLang="en-US"/>
              <a:t>互換性）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BEFB35-E121-CAFF-7D01-65ED9569A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3512344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/>
              <a:t>他システムと共存・相互運用できる度合い。</a:t>
            </a:r>
          </a:p>
          <a:p>
            <a:r>
              <a:rPr lang="en-US" dirty="0"/>
              <a:t>Ability to exchange information and operate in shared environments.</a:t>
            </a:r>
          </a:p>
          <a:p>
            <a:pPr lvl="1"/>
            <a:endParaRPr lang="en-US" dirty="0"/>
          </a:p>
          <a:p>
            <a:r>
              <a:rPr lang="en-US" dirty="0"/>
              <a:t>Co-existence（</a:t>
            </a:r>
            <a:r>
              <a:rPr lang="ja-JP" altLang="en-US"/>
              <a:t>共存性）</a:t>
            </a:r>
          </a:p>
          <a:p>
            <a:r>
              <a:rPr lang="en-US" dirty="0"/>
              <a:t>Interoperability（</a:t>
            </a:r>
            <a:r>
              <a:rPr lang="ja-JP" altLang="en-US"/>
              <a:t>相互運用性）</a:t>
            </a:r>
          </a:p>
          <a:p>
            <a:pPr lvl="1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C2D53F-22B3-9523-8074-79CC76246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Usability（</a:t>
            </a:r>
            <a:r>
              <a:rPr lang="ja-JP" altLang="en-US"/>
              <a:t>使用性）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D9BD7F-C007-6725-382C-D7E5E0348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306469" cy="3512344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/>
              <a:t>利用者が効果的・効率的に目標を達成</a:t>
            </a:r>
            <a:br>
              <a:rPr lang="en-US" altLang="ja-JP" dirty="0"/>
            </a:br>
            <a:r>
              <a:rPr lang="ja-JP" altLang="en-US"/>
              <a:t>できる度合い。</a:t>
            </a:r>
            <a:endParaRPr lang="en-US" altLang="ja-JP" dirty="0"/>
          </a:p>
          <a:p>
            <a:r>
              <a:rPr lang="en-US" dirty="0"/>
              <a:t>Extent to which users achieve goals effectively and satisfactorily.</a:t>
            </a:r>
          </a:p>
          <a:p>
            <a:pPr lvl="1"/>
            <a:endParaRPr lang="en-US" dirty="0"/>
          </a:p>
          <a:p>
            <a:r>
              <a:rPr lang="en-US" dirty="0"/>
              <a:t>Appropriateness recognizability</a:t>
            </a:r>
            <a:br>
              <a:rPr lang="en-US" dirty="0"/>
            </a:br>
            <a:r>
              <a:rPr lang="en-US" dirty="0"/>
              <a:t>（</a:t>
            </a:r>
            <a:r>
              <a:rPr lang="ja-JP" altLang="en-US"/>
              <a:t>適切性認識性）</a:t>
            </a:r>
          </a:p>
          <a:p>
            <a:r>
              <a:rPr lang="en-US" dirty="0"/>
              <a:t>Learnability（</a:t>
            </a:r>
            <a:r>
              <a:rPr lang="ja-JP" altLang="en-US"/>
              <a:t>学習容易性）</a:t>
            </a:r>
          </a:p>
          <a:p>
            <a:r>
              <a:rPr lang="en-US" dirty="0"/>
              <a:t>Operability（</a:t>
            </a:r>
            <a:r>
              <a:rPr lang="ja-JP" altLang="en-US"/>
              <a:t>操作性）</a:t>
            </a:r>
          </a:p>
          <a:p>
            <a:r>
              <a:rPr lang="en-US" dirty="0"/>
              <a:t>User error protection（</a:t>
            </a:r>
            <a:r>
              <a:rPr lang="ja-JP" altLang="en-US"/>
              <a:t>利用者誤り防止）</a:t>
            </a:r>
          </a:p>
          <a:p>
            <a:r>
              <a:rPr lang="en-US" dirty="0"/>
              <a:t>User interface aesthetics</a:t>
            </a:r>
            <a:br>
              <a:rPr lang="en-US" dirty="0"/>
            </a:br>
            <a:r>
              <a:rPr lang="en-US" dirty="0"/>
              <a:t>（</a:t>
            </a:r>
            <a:r>
              <a:rPr lang="ja-JP" altLang="en-US"/>
              <a:t>ユーザインタフェース美観）</a:t>
            </a:r>
          </a:p>
          <a:p>
            <a:r>
              <a:rPr lang="en-US" dirty="0"/>
              <a:t>Accessibility（</a:t>
            </a:r>
            <a:r>
              <a:rPr lang="ja-JP" altLang="en-US"/>
              <a:t>アクセシビリティ）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839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A86EF-451C-CD93-1E73-9D823DC55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ISO/IEC 25010 Quality Model (3/4)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70647-5579-645A-144B-CFC3CBEE2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Reliability（</a:t>
            </a:r>
            <a:r>
              <a:rPr lang="ja-JP" altLang="en-US"/>
              <a:t>信頼性）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F737F-FCE4-546D-6111-4E97C201EC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/>
              <a:t>一定期間、故障なく機能を維持できる度合い。</a:t>
            </a:r>
          </a:p>
          <a:p>
            <a:r>
              <a:rPr lang="en-US" dirty="0"/>
              <a:t>Ability to perform specified functions for a specified time.</a:t>
            </a:r>
          </a:p>
          <a:p>
            <a:endParaRPr lang="en-US" dirty="0"/>
          </a:p>
          <a:p>
            <a:r>
              <a:rPr lang="en-US" dirty="0"/>
              <a:t>Maturity（</a:t>
            </a:r>
            <a:r>
              <a:rPr lang="ja-JP" altLang="en-US"/>
              <a:t>成熟性）</a:t>
            </a:r>
          </a:p>
          <a:p>
            <a:r>
              <a:rPr lang="en-US" dirty="0"/>
              <a:t>Availability（</a:t>
            </a:r>
            <a:r>
              <a:rPr lang="ja-JP" altLang="en-US"/>
              <a:t>可用性）</a:t>
            </a:r>
          </a:p>
          <a:p>
            <a:r>
              <a:rPr lang="en-US" dirty="0"/>
              <a:t>Fault tolerance（</a:t>
            </a:r>
            <a:r>
              <a:rPr lang="ja-JP" altLang="en-US"/>
              <a:t>耐障害性）</a:t>
            </a:r>
          </a:p>
          <a:p>
            <a:r>
              <a:rPr lang="en-US" dirty="0"/>
              <a:t>Recoverability（</a:t>
            </a:r>
            <a:r>
              <a:rPr lang="ja-JP" altLang="en-US"/>
              <a:t>回復性）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116480-CB1A-D69C-C9F0-65638A46A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Security（</a:t>
            </a:r>
            <a:r>
              <a:rPr lang="ja-JP" altLang="en-US"/>
              <a:t>セキュリティ）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E2959-7054-F50B-CBAB-D977A568B85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/>
              <a:t>情報を保護し、適切な主体のみがアクセス可能な度合い。</a:t>
            </a:r>
            <a:endParaRPr lang="en-US" altLang="ja-JP" dirty="0"/>
          </a:p>
          <a:p>
            <a:r>
              <a:rPr lang="en-US" dirty="0"/>
              <a:t>Protection of information with appropriate access control.</a:t>
            </a:r>
          </a:p>
          <a:p>
            <a:endParaRPr lang="en-US" dirty="0"/>
          </a:p>
          <a:p>
            <a:r>
              <a:rPr lang="en-US" dirty="0"/>
              <a:t>Confidentiality（</a:t>
            </a:r>
            <a:r>
              <a:rPr lang="ja-JP" altLang="en-US"/>
              <a:t>機密性）</a:t>
            </a:r>
          </a:p>
          <a:p>
            <a:r>
              <a:rPr lang="en-US" dirty="0"/>
              <a:t>Integrity（</a:t>
            </a:r>
            <a:r>
              <a:rPr lang="ja-JP" altLang="en-US"/>
              <a:t>完全性）</a:t>
            </a:r>
          </a:p>
          <a:p>
            <a:r>
              <a:rPr lang="en-US" dirty="0"/>
              <a:t>Non-repudiation（</a:t>
            </a:r>
            <a:r>
              <a:rPr lang="ja-JP" altLang="en-US"/>
              <a:t>否認防止）</a:t>
            </a:r>
          </a:p>
          <a:p>
            <a:r>
              <a:rPr lang="en-US" dirty="0"/>
              <a:t>Accountability（</a:t>
            </a:r>
            <a:r>
              <a:rPr lang="ja-JP" altLang="en-US"/>
              <a:t>責任追跡性）</a:t>
            </a:r>
          </a:p>
          <a:p>
            <a:r>
              <a:rPr lang="en-US" dirty="0"/>
              <a:t>Authenticity（</a:t>
            </a:r>
            <a:r>
              <a:rPr lang="ja-JP" altLang="en-US"/>
              <a:t>真正性）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4763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BFF48-FE6B-F02D-080E-5B81DC81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ISO/IEC 25010 Quality Model (4/4)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DA329-888B-B733-2DF3-E2F87FDCD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Maintainability（</a:t>
            </a:r>
            <a:r>
              <a:rPr lang="ja-JP" altLang="en-US"/>
              <a:t>保守性）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B819D-6D86-0FF7-066A-D7990F3D3E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修正や改善を効率的に行える度合い。</a:t>
            </a:r>
          </a:p>
          <a:p>
            <a:r>
              <a:rPr lang="en-US" dirty="0"/>
              <a:t>Ease and efficiency with which a product can be modified.</a:t>
            </a:r>
          </a:p>
          <a:p>
            <a:endParaRPr lang="en-US" dirty="0"/>
          </a:p>
          <a:p>
            <a:r>
              <a:rPr lang="en-US" dirty="0"/>
              <a:t>Modularity（</a:t>
            </a:r>
            <a:r>
              <a:rPr lang="ja-JP" altLang="en-US"/>
              <a:t>モジュール性）</a:t>
            </a:r>
          </a:p>
          <a:p>
            <a:r>
              <a:rPr lang="en-US" dirty="0"/>
              <a:t>Reusability（</a:t>
            </a:r>
            <a:r>
              <a:rPr lang="ja-JP" altLang="en-US"/>
              <a:t>再利用性）</a:t>
            </a:r>
          </a:p>
          <a:p>
            <a:r>
              <a:rPr lang="en-US" dirty="0" err="1"/>
              <a:t>Analysability</a:t>
            </a:r>
            <a:r>
              <a:rPr lang="en-US" dirty="0"/>
              <a:t>（</a:t>
            </a:r>
            <a:r>
              <a:rPr lang="ja-JP" altLang="en-US"/>
              <a:t>解析容易性）</a:t>
            </a:r>
          </a:p>
          <a:p>
            <a:r>
              <a:rPr lang="en-US" dirty="0"/>
              <a:t>Modifiability（</a:t>
            </a:r>
            <a:r>
              <a:rPr lang="ja-JP" altLang="en-US"/>
              <a:t>変更容易性）</a:t>
            </a:r>
          </a:p>
          <a:p>
            <a:r>
              <a:rPr lang="en-US" dirty="0"/>
              <a:t>Testability（</a:t>
            </a:r>
            <a:r>
              <a:rPr lang="ja-JP" altLang="en-US"/>
              <a:t>試験容易性）</a:t>
            </a:r>
          </a:p>
          <a:p>
            <a:pPr lvl="1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10E41-A698-F593-20F5-922A04FF9C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Portability（</a:t>
            </a:r>
            <a:r>
              <a:rPr lang="ja-JP" altLang="en-US"/>
              <a:t>移植性）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52A2FC-41E8-09EC-2947-9B2008C1BEB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異なる環境へ移行できる容易さの度合い。</a:t>
            </a:r>
          </a:p>
          <a:p>
            <a:r>
              <a:rPr lang="en-US" dirty="0"/>
              <a:t>Ease with which a product can be transferred to another environment.</a:t>
            </a:r>
          </a:p>
          <a:p>
            <a:endParaRPr lang="en-US" dirty="0"/>
          </a:p>
          <a:p>
            <a:r>
              <a:rPr lang="en-US" dirty="0"/>
              <a:t>Adaptability（</a:t>
            </a:r>
            <a:r>
              <a:rPr lang="ja-JP" altLang="en-US"/>
              <a:t>適応性）</a:t>
            </a:r>
          </a:p>
          <a:p>
            <a:r>
              <a:rPr lang="en-US" dirty="0" err="1"/>
              <a:t>Installability</a:t>
            </a:r>
            <a:r>
              <a:rPr lang="en-US" dirty="0"/>
              <a:t>（</a:t>
            </a:r>
            <a:r>
              <a:rPr lang="ja-JP" altLang="en-US"/>
              <a:t>導入容易性）</a:t>
            </a:r>
          </a:p>
          <a:p>
            <a:r>
              <a:rPr lang="en-US" dirty="0"/>
              <a:t>Replaceability（</a:t>
            </a:r>
            <a:r>
              <a:rPr lang="ja-JP" altLang="en-US"/>
              <a:t>置換性）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457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B5EAC-925E-82C5-6ED6-BFE7F0963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ISO/IEC 25019:2023 – Quality in Use Model (1/2)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40E905-9E57-1069-BE65-10234356BE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068705"/>
            <a:ext cx="4038600" cy="26947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Quality in Use（</a:t>
            </a:r>
            <a:r>
              <a:rPr lang="ja-JP" altLang="en-US" b="1"/>
              <a:t>利用時品質）</a:t>
            </a:r>
          </a:p>
          <a:p>
            <a:r>
              <a:rPr lang="ja-JP" altLang="en-US"/>
              <a:t>特定の利用状況において、利用者および利害関係者が目標を達成し、価値を得られる度合い。</a:t>
            </a:r>
          </a:p>
          <a:p>
            <a:r>
              <a:rPr lang="en-US" dirty="0"/>
              <a:t>Degree to which a system enables specified users and stakeholders</a:t>
            </a:r>
            <a:r>
              <a:rPr lang="ja-JP" altLang="en-US"/>
              <a:t> </a:t>
            </a:r>
            <a:r>
              <a:rPr lang="en-US" dirty="0"/>
              <a:t>to achieve specified goals effectively, efficiently, and with value</a:t>
            </a:r>
            <a:r>
              <a:rPr lang="ja-JP" altLang="en-US"/>
              <a:t>　</a:t>
            </a:r>
            <a:r>
              <a:rPr lang="en-US" dirty="0"/>
              <a:t>in a specified context of use.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4F60DC-6D91-B902-C5FF-1A7F6F670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068705"/>
            <a:ext cx="4038600" cy="26947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Effectiveness &amp; Efficiency</a:t>
            </a:r>
            <a:br>
              <a:rPr lang="en-US" b="1" dirty="0"/>
            </a:br>
            <a:r>
              <a:rPr lang="en-US" b="1" dirty="0"/>
              <a:t>（</a:t>
            </a:r>
            <a:r>
              <a:rPr lang="ja-JP" altLang="en-US" b="1"/>
              <a:t>有効性・効率性）</a:t>
            </a:r>
          </a:p>
          <a:p>
            <a:r>
              <a:rPr lang="ja-JP" altLang="en-US"/>
              <a:t>利用者が目標を正確かつ効率的に達成できる度合い。</a:t>
            </a:r>
          </a:p>
          <a:p>
            <a:r>
              <a:rPr lang="en-US" dirty="0"/>
              <a:t>Extent to which users achieve goals accurately and efficiently.</a:t>
            </a:r>
          </a:p>
          <a:p>
            <a:endParaRPr lang="en-US" dirty="0"/>
          </a:p>
          <a:p>
            <a:r>
              <a:rPr lang="en-US" dirty="0"/>
              <a:t>Effectiveness（</a:t>
            </a:r>
            <a:r>
              <a:rPr lang="ja-JP" altLang="en-US"/>
              <a:t>有効性）</a:t>
            </a:r>
          </a:p>
          <a:p>
            <a:r>
              <a:rPr lang="en-US" dirty="0"/>
              <a:t>Efficiency（</a:t>
            </a:r>
            <a:r>
              <a:rPr lang="ja-JP" altLang="en-US"/>
              <a:t>効率性）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6630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A6D4D-3758-AAED-1BAF-93AC6461D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ISO/IEC 25019:2023 – Quality in Use Model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71A10-3AC6-5210-AFCB-DC1BD88717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6413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Satisfaction（</a:t>
            </a:r>
            <a:r>
              <a:rPr lang="ja-JP" altLang="en-US" b="1"/>
              <a:t>満足度）</a:t>
            </a:r>
          </a:p>
          <a:p>
            <a:r>
              <a:rPr lang="ja-JP" altLang="en-US"/>
              <a:t>利用体験に対する快適性や受容性の度合い。</a:t>
            </a:r>
          </a:p>
          <a:p>
            <a:r>
              <a:rPr lang="en-US" dirty="0"/>
              <a:t>Degree of comfort and acceptability of use.</a:t>
            </a:r>
          </a:p>
          <a:p>
            <a:endParaRPr lang="en-US" dirty="0"/>
          </a:p>
          <a:p>
            <a:r>
              <a:rPr lang="en-US" dirty="0"/>
              <a:t>Usefulness（</a:t>
            </a:r>
            <a:r>
              <a:rPr lang="ja-JP" altLang="en-US"/>
              <a:t>有用性）</a:t>
            </a:r>
          </a:p>
          <a:p>
            <a:r>
              <a:rPr lang="en-US" dirty="0"/>
              <a:t>Trust（</a:t>
            </a:r>
            <a:r>
              <a:rPr lang="ja-JP" altLang="en-US"/>
              <a:t>信頼感）</a:t>
            </a:r>
          </a:p>
          <a:p>
            <a:r>
              <a:rPr lang="en-US" dirty="0"/>
              <a:t>Pleasure（</a:t>
            </a:r>
            <a:r>
              <a:rPr lang="ja-JP" altLang="en-US"/>
              <a:t>快適性）</a:t>
            </a:r>
          </a:p>
          <a:p>
            <a:r>
              <a:rPr lang="en-US" dirty="0"/>
              <a:t>Comfort（</a:t>
            </a:r>
            <a:r>
              <a:rPr lang="ja-JP" altLang="en-US"/>
              <a:t>安心感）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C178AF-2B7D-A38C-19A0-778F1A809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6413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Freedom from Risk &amp; Context Coverage</a:t>
            </a:r>
            <a:br>
              <a:rPr lang="en-US" b="1" dirty="0"/>
            </a:br>
            <a:r>
              <a:rPr lang="en-US" b="1" dirty="0"/>
              <a:t>（</a:t>
            </a:r>
            <a:r>
              <a:rPr lang="ja-JP" altLang="en-US" b="1"/>
              <a:t>リスクからの自由と利用状況の網羅性）</a:t>
            </a:r>
          </a:p>
          <a:p>
            <a:r>
              <a:rPr lang="ja-JP" altLang="en-US"/>
              <a:t>利用に伴うリスクを最小化し、想定利用状況を十分にカバーする度合い。</a:t>
            </a:r>
          </a:p>
          <a:p>
            <a:r>
              <a:rPr lang="en-US" dirty="0"/>
              <a:t>Extent to which use mitigates risk and covers intended contexts.</a:t>
            </a:r>
          </a:p>
          <a:p>
            <a:endParaRPr lang="en-US" dirty="0"/>
          </a:p>
          <a:p>
            <a:r>
              <a:rPr lang="en-US" dirty="0"/>
              <a:t>Economic risk mitigation</a:t>
            </a:r>
            <a:br>
              <a:rPr lang="en-US" dirty="0"/>
            </a:br>
            <a:r>
              <a:rPr lang="en-US" dirty="0"/>
              <a:t>（</a:t>
            </a:r>
            <a:r>
              <a:rPr lang="ja-JP" altLang="en-US"/>
              <a:t>経済的リスク低減）</a:t>
            </a:r>
          </a:p>
          <a:p>
            <a:r>
              <a:rPr lang="en-US" dirty="0"/>
              <a:t>Health &amp; safety risk mitigation</a:t>
            </a:r>
            <a:br>
              <a:rPr lang="en-US" dirty="0"/>
            </a:br>
            <a:r>
              <a:rPr lang="en-US" dirty="0"/>
              <a:t>（</a:t>
            </a:r>
            <a:r>
              <a:rPr lang="ja-JP" altLang="en-US"/>
              <a:t>健康・安全リスク低減）</a:t>
            </a:r>
          </a:p>
          <a:p>
            <a:r>
              <a:rPr lang="en-US" dirty="0"/>
              <a:t>Environmental risk mitigation</a:t>
            </a:r>
            <a:br>
              <a:rPr lang="en-US" dirty="0"/>
            </a:br>
            <a:r>
              <a:rPr lang="en-US" dirty="0"/>
              <a:t>（</a:t>
            </a:r>
            <a:r>
              <a:rPr lang="ja-JP" altLang="en-US"/>
              <a:t>環境リスク低減）</a:t>
            </a:r>
          </a:p>
          <a:p>
            <a:r>
              <a:rPr lang="en-US" dirty="0"/>
              <a:t>Context completeness（</a:t>
            </a:r>
            <a:r>
              <a:rPr lang="ja-JP" altLang="en-US"/>
              <a:t>利用状況完全性）</a:t>
            </a:r>
          </a:p>
          <a:p>
            <a:r>
              <a:rPr lang="en-US" dirty="0"/>
              <a:t>Flexibility in use（</a:t>
            </a:r>
            <a:r>
              <a:rPr lang="ja-JP" altLang="en-US"/>
              <a:t>利用柔軟性）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9948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28E3A-333D-AA2E-FEE4-CA4AD0C96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Slides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D5D8E-5E04-7202-0666-5FE8F2CF7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860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36C526-0060-804D-5D33-F939F864E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ISO/IEC/IEEE 29148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D15AE9-85F7-9EEC-AD0F-6E70795E6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400" dirty="0"/>
              <a:t>ISO/IEC/IEEE 29148</a:t>
            </a:r>
          </a:p>
          <a:p>
            <a:pPr lvl="1"/>
            <a:r>
              <a:rPr lang="ja-JP" altLang="en-US"/>
              <a:t>システム及びソフトウェア工学－ライフサイクルプロセス－要求事項エンジニアリング </a:t>
            </a:r>
            <a:endParaRPr lang="en-US" altLang="ja-JP" dirty="0"/>
          </a:p>
          <a:p>
            <a:pPr lvl="1"/>
            <a:r>
              <a:rPr lang="en-US" altLang="ja-JP" dirty="0"/>
              <a:t>Systems and software engineering -- Life cycle processes -- Requirements engineering</a:t>
            </a:r>
          </a:p>
          <a:p>
            <a:endParaRPr lang="en-US" altLang="ja-JP" dirty="0"/>
          </a:p>
          <a:p>
            <a:pPr lvl="1"/>
            <a:r>
              <a:rPr lang="ja-JP" altLang="en-US"/>
              <a:t>要求の定義・構造化・文書化方法を定める標準。</a:t>
            </a:r>
          </a:p>
          <a:p>
            <a:pPr lvl="1"/>
            <a:r>
              <a:rPr lang="en-US" dirty="0"/>
              <a:t>Standard for defining, structuring, and documenting requirements.</a:t>
            </a:r>
          </a:p>
          <a:p>
            <a:pPr lvl="1"/>
            <a:endParaRPr lang="en-US" altLang="ja-JP" dirty="0"/>
          </a:p>
          <a:p>
            <a:pPr lvl="1"/>
            <a:r>
              <a:rPr lang="ja-JP" altLang="en-US"/>
              <a:t>「何を作るか」を体系化する枠組み。</a:t>
            </a:r>
          </a:p>
          <a:p>
            <a:pPr lvl="1"/>
            <a:r>
              <a:rPr lang="en-US" dirty="0"/>
              <a:t>Framework for systematically defining what to build.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SRS</a:t>
            </a:r>
            <a:r>
              <a:rPr lang="ja-JP" altLang="en-US"/>
              <a:t>構造、トレーサビリティ、要求品質特性を規定。</a:t>
            </a:r>
          </a:p>
          <a:p>
            <a:pPr lvl="1"/>
            <a:r>
              <a:rPr lang="en-US" dirty="0"/>
              <a:t>Specifies SRS structure, traceability, and requirement quality attributes.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ja-JP" alt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258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1755</TotalTime>
  <Words>1945</Words>
  <Application>Microsoft Macintosh PowerPoint</Application>
  <PresentationFormat>On-screen Show (16:9)</PresentationFormat>
  <Paragraphs>334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-webkit-standard</vt:lpstr>
      <vt:lpstr>Arial</vt:lpstr>
      <vt:lpstr>Calibri</vt:lpstr>
      <vt:lpstr>Office Theme</vt:lpstr>
      <vt:lpstr>Introduction to System Design and Software Requirements Specification アプリ設計とソフトウェア要求仕様の概要</vt:lpstr>
      <vt:lpstr>What is software design? / アプリ設計ってなに？</vt:lpstr>
      <vt:lpstr>How to describe “how to build”? / アプリ設計ってどうやって記述するの？ </vt:lpstr>
      <vt:lpstr>Example of System Block Diagram (システムブロック図) </vt:lpstr>
      <vt:lpstr>Example of Flow Chart (フローチャート)</vt:lpstr>
      <vt:lpstr>Pseudo Code (擬似コード)</vt:lpstr>
      <vt:lpstr>Timeline Diagram (時間遷移図)</vt:lpstr>
      <vt:lpstr>UI Design / ユーザーインターフェース設計</vt:lpstr>
      <vt:lpstr>1. システム概要 / System Overview</vt:lpstr>
      <vt:lpstr>2. ステークホルダ / Stakeholders</vt:lpstr>
      <vt:lpstr>3. 機能要件 / Functional Requirements</vt:lpstr>
      <vt:lpstr>4. 非機能要件 / Non-Functional Requirements</vt:lpstr>
      <vt:lpstr>5. データ要件 / Data Requirements</vt:lpstr>
      <vt:lpstr>6. 外部インターフェース / External Interfaces</vt:lpstr>
      <vt:lpstr>7. 制約条件 / Constraints</vt:lpstr>
      <vt:lpstr>8. 前提条件・依存関係 / Assumptions &amp; Dependencies</vt:lpstr>
      <vt:lpstr>9. 受入基準 / Acceptance Criteria</vt:lpstr>
      <vt:lpstr>10. トレーサビリティ / Traceability</vt:lpstr>
      <vt:lpstr>Reference Standards / 参照した国際標準・規格</vt:lpstr>
      <vt:lpstr>ISO/IEC/IEEE 29148 Requirements Structure (1/4)</vt:lpstr>
      <vt:lpstr>ISO/IEC/IEEE 29148 Requirement Types (2/4)</vt:lpstr>
      <vt:lpstr>ISO/IEC/IEEE 29148 Constraints &amp; Verification (3/4)</vt:lpstr>
      <vt:lpstr>ISO/IEC/IEEE 29148 Requirement Quality Characteristics (4/4)</vt:lpstr>
      <vt:lpstr>ISO/IEC 25010 Quality Model (1/4)</vt:lpstr>
      <vt:lpstr>ISO/IEC 25010 Quality Model (2/4)</vt:lpstr>
      <vt:lpstr>ISO/IEC 25010 Quality Model (3/4)</vt:lpstr>
      <vt:lpstr>ISO/IEC 25010 Quality Model (4/4)</vt:lpstr>
      <vt:lpstr>ISO/IEC 25019:2023 – Quality in Use Model (1/2)</vt:lpstr>
      <vt:lpstr>ISO/IEC 25019:2023 – Quality in Use Model (2/2)</vt:lpstr>
      <vt:lpstr>Backup Slides</vt:lpstr>
      <vt:lpstr>ISO/IEC/IEEE 29148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システム概要 / System Overview</dc:title>
  <dc:subject/>
  <dc:creator/>
  <cp:keywords/>
  <dc:description>generated using python-pptx</dc:description>
  <cp:lastModifiedBy>Kotaro Kataoka</cp:lastModifiedBy>
  <cp:revision>21</cp:revision>
  <dcterms:created xsi:type="dcterms:W3CDTF">2013-01-27T09:14:16Z</dcterms:created>
  <dcterms:modified xsi:type="dcterms:W3CDTF">2026-03-25T11:42:30Z</dcterms:modified>
  <cp:category/>
</cp:coreProperties>
</file>